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rts/chart2.xml" ContentType="application/vnd.openxmlformats-officedocument.drawingml.chart+xml"/>
  <Override PartName="/ppt/notesSlides/notesSlide14.xml" ContentType="application/vnd.openxmlformats-officedocument.presentationml.notesSlide+xml"/>
  <Override PartName="/ppt/charts/chart3.xml" ContentType="application/vnd.openxmlformats-officedocument.drawingml.chart+xml"/>
  <Override PartName="/ppt/notesSlides/notesSlide15.xml" ContentType="application/vnd.openxmlformats-officedocument.presentationml.notesSlide+xml"/>
  <Override PartName="/ppt/charts/chart4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78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80" r:id="rId17"/>
    <p:sldId id="272" r:id="rId18"/>
    <p:sldId id="274" r:id="rId19"/>
    <p:sldId id="275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1E2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5" d="100"/>
          <a:sy n="125" d="100"/>
        </p:scale>
        <p:origin x="300" y="4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C8D4E8"/>
                </a:solidFill>
                <a:latin typeface="Arial"/>
              </a:defRPr>
            </a:pPr>
            <a:r>
              <a:rPr lang="tr-TR" sz="1100" b="0" i="0" u="none" strike="noStrike">
                <a:solidFill>
                  <a:srgbClr val="C8D4E8"/>
                </a:solidFill>
                <a:latin typeface="Arial"/>
              </a:rPr>
              <a:t>XAUUSD narx tarixi ($)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XAUUSD</c:v>
                </c:pt>
              </c:strCache>
            </c:strRef>
          </c:tx>
          <c:spPr>
            <a:ln w="31750" cap="flat">
              <a:solidFill>
                <a:srgbClr val="D4A01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4A017"/>
              </a:solidFill>
              <a:ln w="9525" cap="flat">
                <a:solidFill>
                  <a:srgbClr val="D4A017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1478</c:v>
                </c:pt>
                <c:pt idx="1">
                  <c:v>1830</c:v>
                </c:pt>
                <c:pt idx="2">
                  <c:v>1826</c:v>
                </c:pt>
                <c:pt idx="3">
                  <c:v>1943</c:v>
                </c:pt>
                <c:pt idx="4">
                  <c:v>2063</c:v>
                </c:pt>
                <c:pt idx="5">
                  <c:v>2300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CDAB-4D74-A7C8-240C54766D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8D4E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A308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8D4E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12059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tr-TR" sz="1200" b="0" i="0" u="none" strike="noStrike">
                <a:solidFill>
                  <a:srgbClr val="FFFFFF"/>
                </a:solidFill>
                <a:latin typeface="Arial"/>
              </a:rPr>
              <a:t>Training Loss (MSE)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Loss</c:v>
                </c:pt>
              </c:strCache>
            </c:strRef>
          </c:tx>
          <c:spPr>
            <a:ln w="25400" cap="flat">
              <a:solidFill>
                <a:srgbClr val="D4A01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4A017"/>
              </a:solidFill>
              <a:ln w="9525" cap="flat">
                <a:solidFill>
                  <a:srgbClr val="D4A017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1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8.2000000000000003E-2</c:v>
                </c:pt>
                <c:pt idx="1">
                  <c:v>6.5000000000000002E-2</c:v>
                </c:pt>
                <c:pt idx="2">
                  <c:v>5.0999999999999997E-2</c:v>
                </c:pt>
                <c:pt idx="3">
                  <c:v>4.2000000000000003E-2</c:v>
                </c:pt>
                <c:pt idx="4">
                  <c:v>3.5999999999999997E-2</c:v>
                </c:pt>
                <c:pt idx="5">
                  <c:v>0.03</c:v>
                </c:pt>
                <c:pt idx="6">
                  <c:v>2.5999999999999999E-2</c:v>
                </c:pt>
                <c:pt idx="7">
                  <c:v>2.3E-2</c:v>
                </c:pt>
                <c:pt idx="8">
                  <c:v>2.1000000000000001E-2</c:v>
                </c:pt>
                <c:pt idx="9">
                  <c:v>1.9E-2</c:v>
                </c:pt>
                <c:pt idx="10">
                  <c:v>1.7999999999999999E-2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D72D-414A-9858-CC173D9DDA3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 Loss</c:v>
                </c:pt>
              </c:strCache>
            </c:strRef>
          </c:tx>
          <c:spPr>
            <a:ln w="25400" cap="flat">
              <a:solidFill>
                <a:srgbClr val="2196F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196F3"/>
              </a:solidFill>
              <a:ln w="9525" cap="flat">
                <a:solidFill>
                  <a:srgbClr val="2196F3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1</c:v>
                </c:pt>
                <c:pt idx="1">
                  <c:v>10</c:v>
                </c:pt>
                <c:pt idx="2">
                  <c:v>20</c:v>
                </c:pt>
                <c:pt idx="3">
                  <c:v>30</c:v>
                </c:pt>
                <c:pt idx="4">
                  <c:v>40</c:v>
                </c:pt>
                <c:pt idx="5">
                  <c:v>50</c:v>
                </c:pt>
                <c:pt idx="6">
                  <c:v>60</c:v>
                </c:pt>
                <c:pt idx="7">
                  <c:v>70</c:v>
                </c:pt>
                <c:pt idx="8">
                  <c:v>80</c:v>
                </c:pt>
                <c:pt idx="9">
                  <c:v>90</c:v>
                </c:pt>
                <c:pt idx="10">
                  <c:v>100</c:v>
                </c:pt>
              </c:strCache>
            </c:strRef>
          </c:cat>
          <c:val>
            <c:numRef>
              <c:f>Sheet1!$C$2:$C$12</c:f>
              <c:numCache>
                <c:formatCode>General</c:formatCode>
                <c:ptCount val="11"/>
                <c:pt idx="0">
                  <c:v>9.5000000000000001E-2</c:v>
                </c:pt>
                <c:pt idx="1">
                  <c:v>7.8E-2</c:v>
                </c:pt>
                <c:pt idx="2">
                  <c:v>6.3E-2</c:v>
                </c:pt>
                <c:pt idx="3">
                  <c:v>5.5E-2</c:v>
                </c:pt>
                <c:pt idx="4">
                  <c:v>4.9000000000000002E-2</c:v>
                </c:pt>
                <c:pt idx="5">
                  <c:v>4.4999999999999998E-2</c:v>
                </c:pt>
                <c:pt idx="6">
                  <c:v>4.2000000000000003E-2</c:v>
                </c:pt>
                <c:pt idx="7">
                  <c:v>0.04</c:v>
                </c:pt>
                <c:pt idx="8">
                  <c:v>3.9E-2</c:v>
                </c:pt>
                <c:pt idx="9">
                  <c:v>3.7999999999999999E-2</c:v>
                </c:pt>
                <c:pt idx="10">
                  <c:v>3.6999999999999998E-2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D72D-414A-9858-CC173D9DDA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D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0F1B2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D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100">
              <a:solidFill>
                <a:schemeClr val="bg2"/>
              </a:solidFill>
            </a:defRPr>
          </a:pPr>
          <a:endParaRPr lang="ru-RU"/>
        </a:p>
      </c:txPr>
    </c:legend>
    <c:plotVisOnly val="1"/>
    <c:dispBlanksAs val="span"/>
    <c:showDLblsOverMax val="1"/>
  </c:chart>
  <c:spPr>
    <a:solidFill>
      <a:srgbClr val="141E2E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Score (%)</c:v>
                </c:pt>
              </c:strCache>
            </c:strRef>
          </c:tx>
          <c:spPr>
            <a:solidFill>
              <a:srgbClr val="D4A017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ru-R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Precision</c:v>
                </c:pt>
                <c:pt idx="1">
                  <c:v>Recall</c:v>
                </c:pt>
                <c:pt idx="2">
                  <c:v>F1-Score</c:v>
                </c:pt>
                <c:pt idx="3">
                  <c:v>Accuracy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87.3</c:v>
                </c:pt>
                <c:pt idx="1">
                  <c:v>84.1</c:v>
                </c:pt>
                <c:pt idx="2">
                  <c:v>85.7</c:v>
                </c:pt>
                <c:pt idx="3">
                  <c:v>86.2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EDD-4F92-A159-12B15D73A1A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D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70"/>
        </c:scaling>
        <c:delete val="0"/>
        <c:axPos val="l"/>
        <c:majorGridlines>
          <c:spPr>
            <a:ln w="6350" cap="flat">
              <a:solidFill>
                <a:srgbClr val="0F1B2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D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41E2E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ru-RU"/>
  <c:roundedCorners val="0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FFFFFF"/>
                </a:solidFill>
                <a:latin typeface="Arial"/>
              </a:defRPr>
            </a:pPr>
            <a:r>
              <a:rPr lang="tr-TR" sz="1200" b="0" i="0" u="none" strike="noStrike" dirty="0">
                <a:solidFill>
                  <a:srgbClr val="FFFFFF"/>
                </a:solidFill>
                <a:latin typeface="Arial"/>
              </a:rPr>
              <a:t>XAUUSD Narx Bashorati (USD) — 202</a:t>
            </a:r>
            <a:r>
              <a:rPr lang="en-US" sz="1200" b="0" i="0" u="none" strike="noStrike" dirty="0">
                <a:solidFill>
                  <a:srgbClr val="FFFFFF"/>
                </a:solidFill>
                <a:latin typeface="Arial"/>
              </a:rPr>
              <a:t>5</a:t>
            </a:r>
            <a:endParaRPr lang="tr-TR" sz="1200" b="0" i="0" u="none" strike="noStrike" dirty="0">
              <a:solidFill>
                <a:srgbClr val="FFFFFF"/>
              </a:solidFill>
              <a:latin typeface="Arial"/>
            </a:endParaRP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Haqiqiy narx</c:v>
                </c:pt>
              </c:strCache>
            </c:strRef>
          </c:tx>
          <c:spPr>
            <a:ln w="25400" cap="flat">
              <a:solidFill>
                <a:srgbClr val="D4A01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D4A017"/>
              </a:solidFill>
              <a:ln w="9525" cap="flat">
                <a:solidFill>
                  <a:srgbClr val="D4A017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1980</c:v>
                </c:pt>
                <c:pt idx="1">
                  <c:v>1995</c:v>
                </c:pt>
                <c:pt idx="2">
                  <c:v>2010</c:v>
                </c:pt>
                <c:pt idx="3">
                  <c:v>1990</c:v>
                </c:pt>
                <c:pt idx="4">
                  <c:v>2050</c:v>
                </c:pt>
                <c:pt idx="5">
                  <c:v>2080</c:v>
                </c:pt>
                <c:pt idx="6">
                  <c:v>2100</c:v>
                </c:pt>
                <c:pt idx="7">
                  <c:v>2090</c:v>
                </c:pt>
                <c:pt idx="8">
                  <c:v>2150</c:v>
                </c:pt>
                <c:pt idx="9">
                  <c:v>2180</c:v>
                </c:pt>
                <c:pt idx="10">
                  <c:v>2210</c:v>
                </c:pt>
                <c:pt idx="11">
                  <c:v>2250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82DC-4D12-835A-E725284D870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Bashorat</c:v>
                </c:pt>
              </c:strCache>
            </c:strRef>
          </c:tx>
          <c:spPr>
            <a:ln w="25400" cap="flat">
              <a:solidFill>
                <a:srgbClr val="2196F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196F3"/>
              </a:solidFill>
              <a:ln w="9525" cap="flat">
                <a:solidFill>
                  <a:srgbClr val="2196F3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  <c:pt idx="6">
                  <c:v>Jul</c:v>
                </c:pt>
                <c:pt idx="7">
                  <c:v>Aug</c:v>
                </c:pt>
                <c:pt idx="8">
                  <c:v>Sep</c:v>
                </c:pt>
                <c:pt idx="9">
                  <c:v>Oct</c:v>
                </c:pt>
                <c:pt idx="10">
                  <c:v>Nov</c:v>
                </c:pt>
                <c:pt idx="11">
                  <c:v>Dec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1985</c:v>
                </c:pt>
                <c:pt idx="1">
                  <c:v>2000</c:v>
                </c:pt>
                <c:pt idx="2">
                  <c:v>2005</c:v>
                </c:pt>
                <c:pt idx="3">
                  <c:v>2000</c:v>
                </c:pt>
                <c:pt idx="4">
                  <c:v>2045</c:v>
                </c:pt>
                <c:pt idx="5">
                  <c:v>2075</c:v>
                </c:pt>
                <c:pt idx="6">
                  <c:v>2095</c:v>
                </c:pt>
                <c:pt idx="7">
                  <c:v>2100</c:v>
                </c:pt>
                <c:pt idx="8">
                  <c:v>2145</c:v>
                </c:pt>
                <c:pt idx="9">
                  <c:v>2175</c:v>
                </c:pt>
                <c:pt idx="10">
                  <c:v>2205</c:v>
                </c:pt>
                <c:pt idx="11">
                  <c:v>2260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82DC-4D12-835A-E725284D870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D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0F1B2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07D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>
              <a:solidFill>
                <a:schemeClr val="bg2"/>
              </a:solidFill>
            </a:defRPr>
          </a:pPr>
          <a:endParaRPr lang="ru-RU"/>
        </a:p>
      </c:txPr>
    </c:legend>
    <c:plotVisOnly val="1"/>
    <c:dispBlanksAs val="span"/>
    <c:showDLblsOverMax val="1"/>
  </c:chart>
  <c:spPr>
    <a:solidFill>
      <a:srgbClr val="141E2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754610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F35DD5-1641-5762-937B-9142ABA23D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E40181-F7E5-E920-A177-4288FBAB50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9EED39-9946-B81B-939D-0326E40D1E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BB6D17-9C6F-D61D-29B0-84BFC26C427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2921618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0" y="731520"/>
            <a:ext cx="2743200" cy="2743200"/>
          </a:xfrm>
          <a:prstGeom prst="rect">
            <a:avLst/>
          </a:prstGeom>
          <a:solidFill>
            <a:srgbClr val="0F1B2D"/>
          </a:solidFill>
          <a:ln w="19050">
            <a:solidFill>
              <a:srgbClr val="D4A017"/>
            </a:solidFill>
            <a:prstDash val="solid"/>
          </a:ln>
          <a:effectLst>
            <a:outerShdw blurRad="254000" dist="50800" dir="8100000" algn="bl" rotWithShape="0">
              <a:srgbClr val="D4A017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0" y="1188720"/>
            <a:ext cx="1828800" cy="1828800"/>
          </a:xfrm>
          <a:prstGeom prst="rect">
            <a:avLst/>
          </a:prstGeom>
          <a:solidFill>
            <a:srgbClr val="0B2447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0" y="1188720"/>
            <a:ext cx="1828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D4A017"/>
                </a:solidFill>
              </a:rPr>
              <a:t>AI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5760720" y="548640"/>
            <a:ext cx="274320" cy="274320"/>
          </a:xfrm>
          <a:prstGeom prst="ellipse">
            <a:avLst/>
          </a:prstGeom>
          <a:solidFill>
            <a:srgbClr val="D4A017"/>
          </a:solidFill>
          <a:ln/>
        </p:spPr>
      </p:sp>
      <p:sp>
        <p:nvSpPr>
          <p:cNvPr id="13" name="Shape 11"/>
          <p:cNvSpPr/>
          <p:nvPr/>
        </p:nvSpPr>
        <p:spPr>
          <a:xfrm>
            <a:off x="8412480" y="3383280"/>
            <a:ext cx="182880" cy="182880"/>
          </a:xfrm>
          <a:prstGeom prst="ellipse">
            <a:avLst/>
          </a:prstGeom>
          <a:solidFill>
            <a:srgbClr val="F5C842"/>
          </a:solidFill>
          <a:ln/>
        </p:spPr>
      </p:sp>
      <p:sp>
        <p:nvSpPr>
          <p:cNvPr id="14" name="Text 12"/>
          <p:cNvSpPr/>
          <p:nvPr/>
        </p:nvSpPr>
        <p:spPr>
          <a:xfrm>
            <a:off x="237744" y="774743"/>
            <a:ext cx="6096649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800" b="1" kern="0" spc="300" dirty="0">
                <a:solidFill>
                  <a:srgbClr val="D4A017"/>
                </a:solidFill>
              </a:rPr>
              <a:t>SUN'IY INTELLEKT ASOSIDA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228600" y="1115973"/>
            <a:ext cx="54864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QIMMATBAHO METALLAR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BOZORINI TAHLIL QILISH</a:t>
            </a:r>
            <a:endParaRPr lang="en-US" sz="3200" dirty="0"/>
          </a:p>
          <a:p>
            <a:pPr marL="0" indent="0" algn="l">
              <a:buNone/>
            </a:pPr>
            <a:r>
              <a:rPr lang="en-US" sz="3200" b="1" dirty="0">
                <a:solidFill>
                  <a:srgbClr val="FFFFFF"/>
                </a:solidFill>
              </a:rPr>
              <a:t>VA BASHORATLASH TIZIMI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283464" y="2656737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i="1" dirty="0">
                <a:solidFill>
                  <a:srgbClr val="2196F3"/>
                </a:solidFill>
              </a:rPr>
              <a:t>Oltin (XAUUSD) misoli asosida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274320" y="3566160"/>
            <a:ext cx="5029200" cy="2743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9" name="Text 17"/>
          <p:cNvSpPr/>
          <p:nvPr/>
        </p:nvSpPr>
        <p:spPr>
          <a:xfrm>
            <a:off x="228600" y="3891356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dirty="0">
                <a:solidFill>
                  <a:srgbClr val="607D8B"/>
                </a:solidFill>
              </a:rPr>
              <a:t>Yo'nalish: </a:t>
            </a:r>
            <a:r>
              <a:rPr lang="en-US" dirty="0">
                <a:solidFill>
                  <a:srgbClr val="2196F3"/>
                </a:solidFill>
              </a:rPr>
              <a:t>Machine Learning • Deep Learning • RL</a:t>
            </a:r>
            <a:endParaRPr lang="en-US" dirty="0"/>
          </a:p>
        </p:txBody>
      </p:sp>
      <p:sp>
        <p:nvSpPr>
          <p:cNvPr id="20" name="Shape 18"/>
          <p:cNvSpPr/>
          <p:nvPr/>
        </p:nvSpPr>
        <p:spPr>
          <a:xfrm>
            <a:off x="0" y="4992624"/>
            <a:ext cx="9144000" cy="146304"/>
          </a:xfrm>
          <a:prstGeom prst="rect">
            <a:avLst/>
          </a:prstGeom>
          <a:solidFill>
            <a:srgbClr val="0B2447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A0701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77724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400" dirty="0">
                <a:solidFill>
                  <a:srgbClr val="D4A017"/>
                </a:solidFill>
              </a:rPr>
              <a:t>MUAMMO: 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274320" y="4486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Nima </a:t>
            </a:r>
            <a:r>
              <a:rPr lang="en-US" sz="3200" b="1" dirty="0" err="1">
                <a:solidFill>
                  <a:srgbClr val="FFFFFF"/>
                </a:solidFill>
              </a:rPr>
              <a:t>uchun</a:t>
            </a:r>
            <a:r>
              <a:rPr lang="en-US" sz="3200" b="1" dirty="0">
                <a:solidFill>
                  <a:srgbClr val="FFFFFF"/>
                </a:solidFill>
              </a:rPr>
              <a:t> </a:t>
            </a:r>
            <a:r>
              <a:rPr lang="en-US" sz="3200" b="1" dirty="0" err="1">
                <a:solidFill>
                  <a:srgbClr val="FFFFFF"/>
                </a:solidFill>
              </a:rPr>
              <a:t>tizim</a:t>
            </a:r>
            <a:r>
              <a:rPr lang="en-US" sz="3200" b="1" dirty="0">
                <a:solidFill>
                  <a:srgbClr val="FFFFFF"/>
                </a:solidFill>
              </a:rPr>
              <a:t> </a:t>
            </a:r>
            <a:r>
              <a:rPr lang="en-US" sz="3200" b="1" dirty="0" err="1">
                <a:solidFill>
                  <a:srgbClr val="FFFFFF"/>
                </a:solidFill>
              </a:rPr>
              <a:t>zarur</a:t>
            </a:r>
            <a:r>
              <a:rPr lang="en-US" sz="3200" b="1" dirty="0">
                <a:solidFill>
                  <a:srgbClr val="FFFFFF"/>
                </a:solidFill>
              </a:rPr>
              <a:t>?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74320" y="1188720"/>
            <a:ext cx="4114800" cy="1280160"/>
          </a:xfrm>
          <a:prstGeom prst="rect">
            <a:avLst/>
          </a:prstGeom>
          <a:solidFill>
            <a:srgbClr val="141E2E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88720"/>
            <a:ext cx="54864" cy="128016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80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C842"/>
                </a:solidFill>
              </a:rPr>
              <a:t>📈  Narx o'zgaruvchanligi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69164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Oltin narxi daqiqada o'zgarib turadi. An'anaviy usullar buni to'liq qamrab olmaydi.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1188720"/>
            <a:ext cx="4114800" cy="1280160"/>
          </a:xfrm>
          <a:prstGeom prst="rect">
            <a:avLst/>
          </a:prstGeom>
          <a:solidFill>
            <a:srgbClr val="141E2E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1188720"/>
            <a:ext cx="54864" cy="128016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2" name="Text 10"/>
          <p:cNvSpPr/>
          <p:nvPr/>
        </p:nvSpPr>
        <p:spPr>
          <a:xfrm>
            <a:off x="4892040" y="128016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C842"/>
                </a:solidFill>
              </a:rPr>
              <a:t>📊  Tahlil murakkabligi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892040" y="169164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Makroiqtisodiy omillar, geopolitika va sentiment birdaniga ta'sir ko'rsatadi.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651760"/>
            <a:ext cx="4114800" cy="1280160"/>
          </a:xfrm>
          <a:prstGeom prst="rect">
            <a:avLst/>
          </a:prstGeom>
          <a:solidFill>
            <a:srgbClr val="141E2E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651760"/>
            <a:ext cx="54864" cy="128016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2743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C842"/>
                </a:solidFill>
              </a:rPr>
              <a:t>⏱️  Kechikish muammosi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7200" y="315468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Inson tahlilchilari real vaqtda reaksiya ko'rsata olmaydi — bozor imkoniyatlari yo'qoladi.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0" y="2651760"/>
            <a:ext cx="4114800" cy="1280160"/>
          </a:xfrm>
          <a:prstGeom prst="rect">
            <a:avLst/>
          </a:prstGeom>
          <a:solidFill>
            <a:srgbClr val="141E2E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2651760"/>
            <a:ext cx="54864" cy="128016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274320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C842"/>
                </a:solidFill>
              </a:rPr>
              <a:t>❌  An'anaviy modellar cheklangan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892040" y="315468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Statistik usullar (ARIMA va boshqalar) murakkab nochiziqli pattern larni aniqlamaydi.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274320" y="4206240"/>
            <a:ext cx="8595360" cy="685800"/>
          </a:xfrm>
          <a:prstGeom prst="rect">
            <a:avLst/>
          </a:prstGeom>
          <a:solidFill>
            <a:srgbClr val="0B2447"/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2976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B4D8"/>
                </a:solidFill>
              </a:rPr>
              <a:t>💡  Yechim: Sun'iy intellekt yordamida real vaqtda tahlil qiluvchi va bashorat qiluvchi tizim yaratish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A07010"/>
          </a:solidFill>
          <a:ln/>
        </p:spPr>
      </p:sp>
      <p:sp>
        <p:nvSpPr>
          <p:cNvPr id="4" name="Text 2"/>
          <p:cNvSpPr/>
          <p:nvPr/>
        </p:nvSpPr>
        <p:spPr>
          <a:xfrm>
            <a:off x="301752" y="167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D4A017"/>
                </a:solidFill>
              </a:rPr>
              <a:t>LOYIHA MAQSADI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274320" y="509016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Nima yaratmoqchimiz?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8595360" cy="777240"/>
          </a:xfrm>
          <a:prstGeom prst="rect">
            <a:avLst/>
          </a:prstGeom>
          <a:solidFill>
            <a:srgbClr val="141E2E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54864" cy="77724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8872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D4A017"/>
                </a:solidFill>
              </a:rPr>
              <a:t>01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1188720" y="1234440"/>
            <a:ext cx="27432" cy="59436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0" name="Text 8"/>
          <p:cNvSpPr/>
          <p:nvPr/>
        </p:nvSpPr>
        <p:spPr>
          <a:xfrm>
            <a:off x="1371600" y="12161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Narx bashorati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371600" y="152704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CNN+LSTM modeli yordamida kelajak narxini real vaqtda bashorat qilish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057400"/>
            <a:ext cx="8595360" cy="777240"/>
          </a:xfrm>
          <a:prstGeom prst="rect">
            <a:avLst/>
          </a:prstGeom>
          <a:solidFill>
            <a:srgbClr val="141E2E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74320" y="2057400"/>
            <a:ext cx="54864" cy="77724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210312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2196F3"/>
                </a:solidFill>
              </a:rPr>
              <a:t>02</a:t>
            </a:r>
            <a:endParaRPr lang="en-US" sz="3200" dirty="0"/>
          </a:p>
        </p:txBody>
      </p:sp>
      <p:sp>
        <p:nvSpPr>
          <p:cNvPr id="15" name="Shape 13"/>
          <p:cNvSpPr/>
          <p:nvPr/>
        </p:nvSpPr>
        <p:spPr>
          <a:xfrm>
            <a:off x="1188720" y="2148840"/>
            <a:ext cx="27432" cy="59436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6" name="Text 14"/>
          <p:cNvSpPr/>
          <p:nvPr/>
        </p:nvSpPr>
        <p:spPr>
          <a:xfrm>
            <a:off x="1371600" y="21305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Savdo signallari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371600" y="244144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Buy / Sell / Hold signallarini avtomatik yaratish (RL agent)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274320" y="2971800"/>
            <a:ext cx="8595360" cy="777240"/>
          </a:xfrm>
          <a:prstGeom prst="rect">
            <a:avLst/>
          </a:prstGeom>
          <a:solidFill>
            <a:srgbClr val="141E2E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274320" y="2971800"/>
            <a:ext cx="54864" cy="7772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457200" y="301752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0B4D8"/>
                </a:solidFill>
              </a:rPr>
              <a:t>03</a:t>
            </a:r>
            <a:endParaRPr lang="en-US" sz="3200" dirty="0"/>
          </a:p>
        </p:txBody>
      </p:sp>
      <p:sp>
        <p:nvSpPr>
          <p:cNvPr id="21" name="Shape 19"/>
          <p:cNvSpPr/>
          <p:nvPr/>
        </p:nvSpPr>
        <p:spPr>
          <a:xfrm>
            <a:off x="1188720" y="3063240"/>
            <a:ext cx="27432" cy="59436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2" name="Text 20"/>
          <p:cNvSpPr/>
          <p:nvPr/>
        </p:nvSpPr>
        <p:spPr>
          <a:xfrm>
            <a:off x="1371600" y="30449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Sentiment tahlili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1371600" y="335584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Yangiliklar va ijtimoiy media ma'lumotlarini Transformer orqali tahlil qilish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3886200"/>
            <a:ext cx="8595360" cy="777240"/>
          </a:xfrm>
          <a:prstGeom prst="rect">
            <a:avLst/>
          </a:prstGeom>
          <a:solidFill>
            <a:srgbClr val="141E2E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886200"/>
            <a:ext cx="54864" cy="77724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931920"/>
            <a:ext cx="640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4CAF50"/>
                </a:solidFill>
              </a:rPr>
              <a:t>04</a:t>
            </a:r>
            <a:endParaRPr lang="en-US" sz="3200" dirty="0"/>
          </a:p>
        </p:txBody>
      </p:sp>
      <p:sp>
        <p:nvSpPr>
          <p:cNvPr id="27" name="Shape 25"/>
          <p:cNvSpPr/>
          <p:nvPr/>
        </p:nvSpPr>
        <p:spPr>
          <a:xfrm>
            <a:off x="1188720" y="3977640"/>
            <a:ext cx="27432" cy="59436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8" name="Text 26"/>
          <p:cNvSpPr/>
          <p:nvPr/>
        </p:nvSpPr>
        <p:spPr>
          <a:xfrm>
            <a:off x="1371600" y="3959352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Trading bot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371600" y="4270248"/>
            <a:ext cx="7132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Telegram orqali real vaqtda signal yuboruvchi bot yaratish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43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9728"/>
          </a:xfrm>
          <a:prstGeom prst="rect">
            <a:avLst/>
          </a:prstGeom>
          <a:solidFill>
            <a:srgbClr val="D4A017"/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43434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Oltin bozori — global ko'lam</a:t>
            </a:r>
            <a:endParaRPr kumimoji="0" lang="en-US" sz="3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1920240" cy="1188720"/>
          </a:xfrm>
          <a:prstGeom prst="rect">
            <a:avLst/>
          </a:prstGeom>
          <a:solidFill>
            <a:srgbClr val="112059"/>
          </a:solidFill>
          <a:ln w="12700">
            <a:solidFill>
              <a:srgbClr val="112059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13990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0C04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$13T+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Text 5"/>
          <p:cNvSpPr/>
          <p:nvPr/>
        </p:nvSpPr>
        <p:spPr>
          <a:xfrm>
            <a:off x="365760" y="1874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8D4E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Jahon oltin bozori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Shape 6"/>
          <p:cNvSpPr/>
          <p:nvPr/>
        </p:nvSpPr>
        <p:spPr>
          <a:xfrm>
            <a:off x="2423160" y="1234440"/>
            <a:ext cx="1920240" cy="1188720"/>
          </a:xfrm>
          <a:prstGeom prst="rect">
            <a:avLst/>
          </a:prstGeom>
          <a:solidFill>
            <a:srgbClr val="112059"/>
          </a:solidFill>
          <a:ln w="12700">
            <a:solidFill>
              <a:srgbClr val="112059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423160" y="13990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0C04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$183B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0" name="Text 8"/>
          <p:cNvSpPr/>
          <p:nvPr/>
        </p:nvSpPr>
        <p:spPr>
          <a:xfrm>
            <a:off x="2423160" y="1874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8D4E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Kunlik savdo hajmi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Shape 9"/>
          <p:cNvSpPr/>
          <p:nvPr/>
        </p:nvSpPr>
        <p:spPr>
          <a:xfrm>
            <a:off x="4480560" y="1234440"/>
            <a:ext cx="1920240" cy="1188720"/>
          </a:xfrm>
          <a:prstGeom prst="rect">
            <a:avLst/>
          </a:prstGeom>
          <a:solidFill>
            <a:srgbClr val="112059"/>
          </a:solidFill>
          <a:ln w="12700">
            <a:solidFill>
              <a:srgbClr val="112059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480560" y="13990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0C04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48%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4480560" y="1874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8D4E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So'nggi 5 yil o'sishi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Shape 12"/>
          <p:cNvSpPr/>
          <p:nvPr/>
        </p:nvSpPr>
        <p:spPr>
          <a:xfrm>
            <a:off x="6537960" y="1234440"/>
            <a:ext cx="1920240" cy="1188720"/>
          </a:xfrm>
          <a:prstGeom prst="rect">
            <a:avLst/>
          </a:prstGeom>
          <a:solidFill>
            <a:srgbClr val="112059"/>
          </a:solidFill>
          <a:ln w="12700">
            <a:solidFill>
              <a:srgbClr val="112059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37960" y="1399032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1" i="0" u="none" strike="noStrike" kern="1200" cap="none" spc="0" normalizeH="0" baseline="0" noProof="0" dirty="0">
                <a:ln>
                  <a:noFill/>
                </a:ln>
                <a:solidFill>
                  <a:srgbClr val="F0C04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24/5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6537960" y="187452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C8D4E8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Bozor ishlash rejimi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aphicFrame>
        <p:nvGraphicFramePr>
          <p:cNvPr id="17" name="Chart 0"/>
          <p:cNvGraphicFramePr/>
          <p:nvPr>
            <p:extLst>
              <p:ext uri="{D42A27DB-BD31-4B8C-83A1-F6EECF244321}">
                <p14:modId xmlns:p14="http://schemas.microsoft.com/office/powerpoint/2010/main" val="3502772696"/>
              </p:ext>
            </p:extLst>
          </p:nvPr>
        </p:nvGraphicFramePr>
        <p:xfrm>
          <a:off x="365760" y="2606040"/>
          <a:ext cx="530352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8" name="Shape 15"/>
          <p:cNvSpPr/>
          <p:nvPr/>
        </p:nvSpPr>
        <p:spPr>
          <a:xfrm>
            <a:off x="5852160" y="2606040"/>
            <a:ext cx="2926080" cy="2286000"/>
          </a:xfrm>
          <a:prstGeom prst="rect">
            <a:avLst/>
          </a:prstGeom>
          <a:solidFill>
            <a:srgbClr val="112059"/>
          </a:solidFill>
          <a:ln w="12700">
            <a:solidFill>
              <a:srgbClr val="112059"/>
            </a:solidFill>
            <a:prstDash val="solid"/>
          </a:ln>
          <a:effectLst>
            <a:outerShdw blurRad="101600" dist="254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5943600" y="27432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F0C04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Asosiy ta'sir omillari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 17"/>
          <p:cNvSpPr/>
          <p:nvPr/>
        </p:nvSpPr>
        <p:spPr>
          <a:xfrm>
            <a:off x="5943600" y="31546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💵 AQSh dollari kursi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Text 18"/>
          <p:cNvSpPr/>
          <p:nvPr/>
        </p:nvSpPr>
        <p:spPr>
          <a:xfrm>
            <a:off x="5943600" y="34747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📈 Inflyatsiya darajasi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2" name="Text 19"/>
          <p:cNvSpPr/>
          <p:nvPr/>
        </p:nvSpPr>
        <p:spPr>
          <a:xfrm>
            <a:off x="5943600" y="37947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🏦 Markaziy bank siyosati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3" name="Text 20"/>
          <p:cNvSpPr/>
          <p:nvPr/>
        </p:nvSpPr>
        <p:spPr>
          <a:xfrm>
            <a:off x="5943600" y="41148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⚔️ Geopolitik keskinlik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Text 21"/>
          <p:cNvSpPr/>
          <p:nvPr/>
        </p:nvSpPr>
        <p:spPr>
          <a:xfrm>
            <a:off x="5943600" y="44348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📊 Risk kamaytirish talabi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Text 2">
            <a:extLst>
              <a:ext uri="{FF2B5EF4-FFF2-40B4-BE49-F238E27FC236}">
                <a16:creationId xmlns:a16="http://schemas.microsoft.com/office/drawing/2014/main" id="{75A159FD-0C49-BE20-9526-1D0C6B3F0EF6}"/>
              </a:ext>
            </a:extLst>
          </p:cNvPr>
          <p:cNvSpPr/>
          <p:nvPr/>
        </p:nvSpPr>
        <p:spPr>
          <a:xfrm>
            <a:off x="301752" y="1417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D4A017"/>
                </a:solidFill>
              </a:rPr>
              <a:t>BOZOR HAQIDA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6350"/>
            <a:ext cx="9144000" cy="54864"/>
          </a:xfrm>
          <a:prstGeom prst="rect">
            <a:avLst/>
          </a:prstGeom>
          <a:solidFill>
            <a:srgbClr val="A07010"/>
          </a:solidFill>
          <a:ln/>
        </p:spPr>
      </p:sp>
      <p:sp>
        <p:nvSpPr>
          <p:cNvPr id="4" name="Text 2"/>
          <p:cNvSpPr/>
          <p:nvPr/>
        </p:nvSpPr>
        <p:spPr>
          <a:xfrm>
            <a:off x="329184" y="9601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D4A017"/>
                </a:solidFill>
              </a:rPr>
              <a:t>MA'LUMOTLAR MANBAI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4267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Data Sources &amp; Time Series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329184" y="940308"/>
            <a:ext cx="5202936" cy="1706880"/>
          </a:xfrm>
          <a:prstGeom prst="rect">
            <a:avLst/>
          </a:prstGeom>
          <a:solidFill>
            <a:srgbClr val="141E2E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9184" y="940308"/>
            <a:ext cx="73152" cy="170688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Text 6"/>
          <p:cNvSpPr/>
          <p:nvPr/>
        </p:nvSpPr>
        <p:spPr>
          <a:xfrm>
            <a:off x="557784" y="1077468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5C842"/>
                </a:solidFill>
              </a:rPr>
              <a:t>MetaTrader 5 (MT5)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57784" y="1534668"/>
            <a:ext cx="48463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</a:rPr>
              <a:t>API orqali real vaqtda ma'lumot olish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</a:rPr>
              <a:t>Tarixiy OHLCV data (yillar davomida)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</a:rPr>
              <a:t>Timeframe: M1, M5, H1, H4, D1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</a:rPr>
              <a:t>Symbol: XAUUSD (Spot Gold)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815584" y="940308"/>
            <a:ext cx="3108960" cy="1706880"/>
          </a:xfrm>
          <a:prstGeom prst="rect">
            <a:avLst/>
          </a:prstGeom>
          <a:solidFill>
            <a:srgbClr val="141E2E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815584" y="940308"/>
            <a:ext cx="54864" cy="17068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2" name="Text 10"/>
          <p:cNvSpPr/>
          <p:nvPr/>
        </p:nvSpPr>
        <p:spPr>
          <a:xfrm>
            <a:off x="5998464" y="107746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B4D8"/>
                </a:solidFill>
              </a:rPr>
              <a:t>Dataset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998464" y="1488948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FFFFF"/>
                </a:solidFill>
              </a:rPr>
              <a:t>~500,000+ qatorlar</a:t>
            </a:r>
            <a:endParaRPr lang="en-US" dirty="0"/>
          </a:p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</a:rPr>
              <a:t>2015–2024 yillar</a:t>
            </a:r>
            <a:endParaRPr lang="en-US" dirty="0"/>
          </a:p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</a:rPr>
              <a:t>1-daqiqalik ma'lumot</a:t>
            </a: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74320" y="26822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D4A017"/>
                </a:solidFill>
              </a:rPr>
              <a:t>Asosiy ustunlar (Features)</a:t>
            </a:r>
            <a:endParaRPr lang="en-US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657299"/>
              </p:ext>
            </p:extLst>
          </p:nvPr>
        </p:nvGraphicFramePr>
        <p:xfrm>
          <a:off x="329184" y="3013710"/>
          <a:ext cx="8595360" cy="2026920"/>
        </p:xfrm>
        <a:graphic>
          <a:graphicData uri="http://schemas.openxmlformats.org/drawingml/2006/table">
            <a:tbl>
              <a:tblPr/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9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Ustun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Tur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Tavsif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244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C842"/>
                          </a:solidFill>
                        </a:rPr>
                        <a:t>Date/Time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B4D8"/>
                          </a:solidFill>
                        </a:rPr>
                        <a:t>datetime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B0BEC5"/>
                          </a:solidFill>
                        </a:rPr>
                        <a:t>Timestamp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C842"/>
                          </a:solidFill>
                        </a:rPr>
                        <a:t>Open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B4D8"/>
                          </a:solidFill>
                        </a:rPr>
                        <a:t>float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B0BEC5"/>
                          </a:solidFill>
                        </a:rPr>
                        <a:t>Ochilish narxi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C842"/>
                          </a:solidFill>
                        </a:rPr>
                        <a:t>High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B4D8"/>
                          </a:solidFill>
                        </a:rPr>
                        <a:t>float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B0BEC5"/>
                          </a:solidFill>
                        </a:rPr>
                        <a:t>Eng yuqori narx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C842"/>
                          </a:solidFill>
                        </a:rPr>
                        <a:t>Low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B4D8"/>
                          </a:solidFill>
                        </a:rPr>
                        <a:t>float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B0BEC5"/>
                          </a:solidFill>
                        </a:rPr>
                        <a:t>Eng past narx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C842"/>
                          </a:solidFill>
                        </a:rPr>
                        <a:t>Close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B4D8"/>
                          </a:solidFill>
                        </a:rPr>
                        <a:t>float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B0BEC5"/>
                          </a:solidFill>
                        </a:rPr>
                        <a:t>Yopilish narxi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95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F5C842"/>
                          </a:solidFill>
                        </a:rPr>
                        <a:t>Volume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00B4D8"/>
                          </a:solidFill>
                        </a:rPr>
                        <a:t>int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00" dirty="0">
                          <a:solidFill>
                            <a:srgbClr val="B0BEC5"/>
                          </a:solidFill>
                        </a:rPr>
                        <a:t>Savdo hajmi (tik)</a:t>
                      </a:r>
                      <a:endParaRPr lang="en-US" sz="1200" dirty="0"/>
                    </a:p>
                  </a:txBody>
                  <a:tcPr>
                    <a:lnL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B2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A0701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D4A017"/>
                </a:solidFill>
              </a:rPr>
              <a:t>MA'LUMOTLARNI TOZALASH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29184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Data Preprocessing Pipeline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114800" cy="1645920"/>
          </a:xfrm>
          <a:prstGeom prst="rect">
            <a:avLst/>
          </a:prstGeom>
          <a:solidFill>
            <a:srgbClr val="141E2E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54864" cy="164592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21615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96F3"/>
                </a:solidFill>
              </a:rPr>
              <a:t>01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12161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Missing Values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457200" y="1618488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0BEC5"/>
                </a:solidFill>
              </a:rPr>
              <a:t>Forward fill (ffill) metodi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0BEC5"/>
                </a:solidFill>
              </a:rPr>
              <a:t>Weekend oraliqlarini interpolatsiya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0BEC5"/>
                </a:solidFill>
              </a:rPr>
              <a:t>Bayram kunlari: O'chirish yoki to'ldirish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709160" y="1143000"/>
            <a:ext cx="4114800" cy="1645920"/>
          </a:xfrm>
          <a:prstGeom prst="rect">
            <a:avLst/>
          </a:prstGeom>
          <a:solidFill>
            <a:srgbClr val="141E2E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143000"/>
            <a:ext cx="54864" cy="16459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3" name="Text 11"/>
          <p:cNvSpPr/>
          <p:nvPr/>
        </p:nvSpPr>
        <p:spPr>
          <a:xfrm>
            <a:off x="4846320" y="121615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017"/>
                </a:solidFill>
              </a:rPr>
              <a:t>02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94960" y="12161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Outlier Detection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892040" y="1618488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0BEC5"/>
                </a:solidFill>
              </a:rPr>
              <a:t>IQR (Interquartile Range) metodi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0BEC5"/>
                </a:solidFill>
              </a:rPr>
              <a:t>Z-score: |z| &gt; 3 → outlier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0BEC5"/>
                </a:solidFill>
              </a:rPr>
              <a:t>Flash crash hodisalarini aniqlash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2971800"/>
            <a:ext cx="4114800" cy="1645920"/>
          </a:xfrm>
          <a:prstGeom prst="rect">
            <a:avLst/>
          </a:prstGeom>
          <a:solidFill>
            <a:srgbClr val="141E2E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971800"/>
            <a:ext cx="54864" cy="1645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8" name="Text 16"/>
          <p:cNvSpPr/>
          <p:nvPr/>
        </p:nvSpPr>
        <p:spPr>
          <a:xfrm>
            <a:off x="411480" y="304495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</a:rPr>
              <a:t>03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60120" y="30449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Normalizatsiya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457200" y="3447288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0BEC5"/>
                </a:solidFill>
              </a:rPr>
              <a:t>Min-Max Scaling: [0, 1]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0BEC5"/>
                </a:solidFill>
              </a:rPr>
              <a:t>Standard Scaler: μ=0, σ=1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0BEC5"/>
                </a:solidFill>
              </a:rPr>
              <a:t>Close narxi uchun Log-return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709160" y="2971800"/>
            <a:ext cx="4114800" cy="1645920"/>
          </a:xfrm>
          <a:prstGeom prst="rect">
            <a:avLst/>
          </a:prstGeom>
          <a:solidFill>
            <a:srgbClr val="141E2E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2971800"/>
            <a:ext cx="54864" cy="16459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3" name="Text 21"/>
          <p:cNvSpPr/>
          <p:nvPr/>
        </p:nvSpPr>
        <p:spPr>
          <a:xfrm>
            <a:off x="4846320" y="3044952"/>
            <a:ext cx="502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CAF50"/>
                </a:solidFill>
              </a:rPr>
              <a:t>04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5394960" y="30449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Sequence Generation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4892040" y="3447288"/>
            <a:ext cx="3749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0BEC5"/>
                </a:solidFill>
              </a:rPr>
              <a:t>Sliding window: 60 qadam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0BEC5"/>
                </a:solidFill>
              </a:rPr>
              <a:t>Train/Val/Test bo'lish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0BEC5"/>
                </a:solidFill>
              </a:rPr>
              <a:t>Temporal ordering saqlash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A0701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D4A017"/>
                </a:solidFill>
              </a:rPr>
              <a:t>FEATURE ENGINEERING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Texnik Indikatorlar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4114800" cy="1691640"/>
          </a:xfrm>
          <a:prstGeom prst="rect">
            <a:avLst/>
          </a:prstGeom>
          <a:solidFill>
            <a:srgbClr val="141E2E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54864" cy="1691640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1188720"/>
            <a:ext cx="822960" cy="502920"/>
          </a:xfrm>
          <a:prstGeom prst="rect">
            <a:avLst/>
          </a:prstGeom>
          <a:solidFill>
            <a:srgbClr val="F5C842">
              <a:alpha val="20000"/>
            </a:srgbClr>
          </a:solidFill>
          <a:ln w="12700">
            <a:solidFill>
              <a:srgbClr val="F5C8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18872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F5C842"/>
                </a:solidFill>
              </a:rPr>
              <a:t>EMA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1371600" y="120700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0BEC5"/>
                </a:solidFill>
              </a:rPr>
              <a:t>Exponential Moving Average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371600" y="148132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C842"/>
                </a:solidFill>
              </a:rPr>
              <a:t>EMAₜ = α × Pₜ + (1−α) × EMAₜ₋₁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1783080"/>
            <a:ext cx="3794760" cy="27432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1847088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📌 Trend yo'nalishini aniqlash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21488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EMA9, EMA21, EMA50, EMA200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09160" y="1097280"/>
            <a:ext cx="4114800" cy="1691640"/>
          </a:xfrm>
          <a:prstGeom prst="rect">
            <a:avLst/>
          </a:prstGeom>
          <a:solidFill>
            <a:srgbClr val="141E2E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09160" y="1097280"/>
            <a:ext cx="54864" cy="169164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7" name="Shape 15"/>
          <p:cNvSpPr/>
          <p:nvPr/>
        </p:nvSpPr>
        <p:spPr>
          <a:xfrm>
            <a:off x="4846320" y="1188720"/>
            <a:ext cx="822960" cy="502920"/>
          </a:xfrm>
          <a:prstGeom prst="rect">
            <a:avLst/>
          </a:prstGeom>
          <a:solidFill>
            <a:srgbClr val="2196F3">
              <a:alpha val="20000"/>
            </a:srgbClr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6320" y="118872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196F3"/>
                </a:solidFill>
              </a:rPr>
              <a:t>RSI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806440" y="120700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0BEC5"/>
                </a:solidFill>
              </a:rPr>
              <a:t>Relative Strength Index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06440" y="148132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C842"/>
                </a:solidFill>
              </a:rPr>
              <a:t>RSI = 100 − 100/(1+RS)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846320" y="1783080"/>
            <a:ext cx="3794760" cy="27432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22" name="Text 20"/>
          <p:cNvSpPr/>
          <p:nvPr/>
        </p:nvSpPr>
        <p:spPr>
          <a:xfrm>
            <a:off x="4892040" y="1847088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📌 Overbought/Oversold holati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892040" y="21488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Davr: 14 | Range: 0–100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2971800"/>
            <a:ext cx="4114800" cy="1691640"/>
          </a:xfrm>
          <a:prstGeom prst="rect">
            <a:avLst/>
          </a:prstGeom>
          <a:solidFill>
            <a:srgbClr val="141E2E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971800"/>
            <a:ext cx="54864" cy="16916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6" name="Shape 24"/>
          <p:cNvSpPr/>
          <p:nvPr/>
        </p:nvSpPr>
        <p:spPr>
          <a:xfrm>
            <a:off x="411480" y="3063240"/>
            <a:ext cx="822960" cy="502920"/>
          </a:xfrm>
          <a:prstGeom prst="rect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306324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0B4D8"/>
                </a:solidFill>
              </a:rPr>
              <a:t>MACD</a:t>
            </a: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1371600" y="308152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0BEC5"/>
                </a:solidFill>
              </a:rPr>
              <a:t>Moving Average Convergence Divergence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371600" y="335584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C842"/>
                </a:solidFill>
              </a:rPr>
              <a:t>MACD = EMA12 − EMA26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3657600"/>
            <a:ext cx="379476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3721608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📌 Momentum va signal chiziq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40233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Signal: EMA9 | Histogram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709160" y="2971800"/>
            <a:ext cx="4114800" cy="1691640"/>
          </a:xfrm>
          <a:prstGeom prst="rect">
            <a:avLst/>
          </a:prstGeom>
          <a:solidFill>
            <a:srgbClr val="141E2E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4709160" y="2971800"/>
            <a:ext cx="54864" cy="169164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5" name="Shape 33"/>
          <p:cNvSpPr/>
          <p:nvPr/>
        </p:nvSpPr>
        <p:spPr>
          <a:xfrm>
            <a:off x="4846320" y="3063240"/>
            <a:ext cx="822960" cy="502920"/>
          </a:xfrm>
          <a:prstGeom prst="rect">
            <a:avLst/>
          </a:prstGeom>
          <a:solidFill>
            <a:srgbClr val="4CAF50">
              <a:alpha val="20000"/>
            </a:srgbClr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3063240"/>
            <a:ext cx="8229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4CAF50"/>
                </a:solidFill>
              </a:rPr>
              <a:t>ATR</a:t>
            </a:r>
            <a:endParaRPr lang="en-US" dirty="0"/>
          </a:p>
        </p:txBody>
      </p:sp>
      <p:sp>
        <p:nvSpPr>
          <p:cNvPr id="37" name="Text 35"/>
          <p:cNvSpPr/>
          <p:nvPr/>
        </p:nvSpPr>
        <p:spPr>
          <a:xfrm>
            <a:off x="5806440" y="308152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B0BEC5"/>
                </a:solidFill>
              </a:rPr>
              <a:t>Average True Range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806440" y="3355848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C842"/>
                </a:solidFill>
              </a:rPr>
              <a:t>ATR = EMA(True Range, n)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846320" y="3657600"/>
            <a:ext cx="3794760" cy="27432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0" name="Text 38"/>
          <p:cNvSpPr/>
          <p:nvPr/>
        </p:nvSpPr>
        <p:spPr>
          <a:xfrm>
            <a:off x="4892040" y="3721608"/>
            <a:ext cx="365760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</a:rPr>
              <a:t>📌 Volatillik o'lchovi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892040" y="402336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Davr: 14 | Stop-loss hisob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A0701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D4A017"/>
                </a:solidFill>
              </a:rPr>
              <a:t>MODEL ARXITEKTURASI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Hybrid AI System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788920" cy="2926080"/>
          </a:xfrm>
          <a:prstGeom prst="rect">
            <a:avLst/>
          </a:prstGeom>
          <a:solidFill>
            <a:srgbClr val="141E2E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54864" cy="292608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Shape 6"/>
          <p:cNvSpPr/>
          <p:nvPr/>
        </p:nvSpPr>
        <p:spPr>
          <a:xfrm>
            <a:off x="411480" y="1234440"/>
            <a:ext cx="2514600" cy="640080"/>
          </a:xfrm>
          <a:prstGeom prst="rect">
            <a:avLst/>
          </a:prstGeom>
          <a:solidFill>
            <a:srgbClr val="D4A017">
              <a:alpha val="15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23444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D4A017"/>
                </a:solidFill>
              </a:rPr>
              <a:t>CNN + LSTM</a:t>
            </a: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457200" y="19659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07D8B"/>
                </a:solidFill>
              </a:rPr>
              <a:t>Price Prediction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1480" y="2286000"/>
            <a:ext cx="2514600" cy="2743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237744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</a:rPr>
              <a:t>Vaqt qatorlaridan pattern aniqlash va kelajak narxini bashorat qilish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1097280"/>
            <a:ext cx="2788920" cy="2926080"/>
          </a:xfrm>
          <a:prstGeom prst="rect">
            <a:avLst/>
          </a:prstGeom>
          <a:solidFill>
            <a:srgbClr val="141E2E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46120" y="1097280"/>
            <a:ext cx="54864" cy="292608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5" name="Shape 13"/>
          <p:cNvSpPr/>
          <p:nvPr/>
        </p:nvSpPr>
        <p:spPr>
          <a:xfrm>
            <a:off x="3383280" y="1234440"/>
            <a:ext cx="2514600" cy="640080"/>
          </a:xfrm>
          <a:prstGeom prst="rect">
            <a:avLst/>
          </a:prstGeom>
          <a:solidFill>
            <a:srgbClr val="2196F3">
              <a:alpha val="15000"/>
            </a:srgbClr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123444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2196F3"/>
                </a:solidFill>
              </a:rPr>
              <a:t>PPO Agent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429000" y="19659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07D8B"/>
                </a:solidFill>
              </a:rPr>
              <a:t>Reinforcement Learning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383280" y="2286000"/>
            <a:ext cx="2514600" cy="27432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9" name="Text 17"/>
          <p:cNvSpPr/>
          <p:nvPr/>
        </p:nvSpPr>
        <p:spPr>
          <a:xfrm>
            <a:off x="3429000" y="237744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</a:rPr>
              <a:t>Buy/Sell/Hold qarorlar qabul qiluvchi RL agenti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217920" y="1097280"/>
            <a:ext cx="2788920" cy="2926080"/>
          </a:xfrm>
          <a:prstGeom prst="rect">
            <a:avLst/>
          </a:prstGeom>
          <a:solidFill>
            <a:srgbClr val="141E2E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217920" y="1097280"/>
            <a:ext cx="54864" cy="29260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2" name="Shape 20"/>
          <p:cNvSpPr/>
          <p:nvPr/>
        </p:nvSpPr>
        <p:spPr>
          <a:xfrm>
            <a:off x="6355080" y="1234440"/>
            <a:ext cx="2514600" cy="640080"/>
          </a:xfrm>
          <a:prstGeom prst="rect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1234440"/>
            <a:ext cx="2514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b="1" dirty="0">
                <a:solidFill>
                  <a:srgbClr val="00B4D8"/>
                </a:solidFill>
              </a:rPr>
              <a:t>Transformer</a:t>
            </a: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6400800" y="1965960"/>
            <a:ext cx="2423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607D8B"/>
                </a:solidFill>
              </a:rPr>
              <a:t>Sentiment Analysis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355080" y="2286000"/>
            <a:ext cx="2514600" cy="27432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0" y="2377440"/>
            <a:ext cx="2423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EC5"/>
                </a:solidFill>
              </a:rPr>
              <a:t>Yangiliklar matni va Twitter sentimentini tahlil qilish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417320" y="4160520"/>
            <a:ext cx="822960" cy="7315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8" name="Shape 26"/>
          <p:cNvSpPr/>
          <p:nvPr/>
        </p:nvSpPr>
        <p:spPr>
          <a:xfrm>
            <a:off x="4389120" y="4160520"/>
            <a:ext cx="822960" cy="73152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29" name="Shape 27"/>
          <p:cNvSpPr/>
          <p:nvPr/>
        </p:nvSpPr>
        <p:spPr>
          <a:xfrm>
            <a:off x="1417320" y="4187952"/>
            <a:ext cx="5943600" cy="27432"/>
          </a:xfrm>
          <a:prstGeom prst="rect">
            <a:avLst/>
          </a:prstGeom>
          <a:solidFill>
            <a:srgbClr val="607D8B"/>
          </a:solidFill>
          <a:ln/>
        </p:spPr>
      </p:sp>
      <p:sp>
        <p:nvSpPr>
          <p:cNvPr id="30" name="Shape 28"/>
          <p:cNvSpPr/>
          <p:nvPr/>
        </p:nvSpPr>
        <p:spPr>
          <a:xfrm>
            <a:off x="2743200" y="4343400"/>
            <a:ext cx="3657600" cy="594360"/>
          </a:xfrm>
          <a:prstGeom prst="rect">
            <a:avLst/>
          </a:prstGeom>
          <a:solidFill>
            <a:srgbClr val="0B2447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2743200" y="4343400"/>
            <a:ext cx="54864" cy="59436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2" name="Text 30"/>
          <p:cNvSpPr/>
          <p:nvPr/>
        </p:nvSpPr>
        <p:spPr>
          <a:xfrm>
            <a:off x="2834640" y="4416552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5C842"/>
                </a:solidFill>
              </a:rPr>
              <a:t>🔗  Ensemble → Final Trading Signal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A0701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kern="0" spc="400" dirty="0">
                <a:solidFill>
                  <a:srgbClr val="D4A017"/>
                </a:solidFill>
              </a:rPr>
              <a:t>CNN + LSTM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Narx Bashorat Modeli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3931920" cy="3566160"/>
          </a:xfrm>
          <a:prstGeom prst="rect">
            <a:avLst/>
          </a:prstGeom>
          <a:solidFill>
            <a:srgbClr val="141E2E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54864" cy="356616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3444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C842"/>
                </a:solidFill>
              </a:rPr>
              <a:t>CNN — Pattern Aniqlash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60020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</a:rPr>
              <a:t>1D Convolutional layers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</a:rPr>
              <a:t>Narx pattern larini local feature sifatida olish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</a:rPr>
              <a:t>MaxPooling — muhim xususiyatlarni saqlash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3566160" cy="27432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7889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96F3"/>
                </a:solidFill>
              </a:rPr>
              <a:t>LSTM — Vaqt Seriyasini O'rganish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7200" y="3154680"/>
            <a:ext cx="35661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0BEC5"/>
                </a:solidFill>
              </a:rPr>
              <a:t>Long Short-Term Memory hujayralari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0BEC5"/>
                </a:solidFill>
              </a:rPr>
              <a:t>Uzoq muddatli bog'liqlikni saqlash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0BEC5"/>
                </a:solidFill>
              </a:rPr>
              <a:t>Input: 60 vaqt qadami (window=60)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0BEC5"/>
                </a:solidFill>
              </a:rPr>
              <a:t>Output: Keyingi narx bashorati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89120" y="1097280"/>
            <a:ext cx="4480560" cy="3566160"/>
          </a:xfrm>
          <a:prstGeom prst="rect">
            <a:avLst/>
          </a:prstGeom>
          <a:solidFill>
            <a:srgbClr val="141E2E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389120" y="1097280"/>
            <a:ext cx="54864" cy="356616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0" y="12344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96F3"/>
                </a:solidFill>
              </a:rPr>
              <a:t>Model Tuzilmasi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663440" y="1645920"/>
            <a:ext cx="4023360" cy="384048"/>
          </a:xfrm>
          <a:prstGeom prst="rect">
            <a:avLst/>
          </a:prstGeom>
          <a:solidFill>
            <a:srgbClr val="607D8B">
              <a:alpha val="20000"/>
            </a:srgbClr>
          </a:solidFill>
          <a:ln w="12700">
            <a:solidFill>
              <a:srgbClr val="607D8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0" y="167335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Input Layer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184708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[batch, 60, features]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583680" y="2029968"/>
            <a:ext cx="27432" cy="118872"/>
          </a:xfrm>
          <a:prstGeom prst="rect">
            <a:avLst/>
          </a:prstGeom>
          <a:solidFill>
            <a:srgbClr val="607D8B"/>
          </a:solidFill>
          <a:ln/>
        </p:spPr>
      </p:sp>
      <p:sp>
        <p:nvSpPr>
          <p:cNvPr id="20" name="Shape 18"/>
          <p:cNvSpPr/>
          <p:nvPr/>
        </p:nvSpPr>
        <p:spPr>
          <a:xfrm>
            <a:off x="4663440" y="2148840"/>
            <a:ext cx="4023360" cy="384048"/>
          </a:xfrm>
          <a:prstGeom prst="rect">
            <a:avLst/>
          </a:prstGeom>
          <a:solidFill>
            <a:srgbClr val="D4A017">
              <a:alpha val="20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217627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Conv1D (64 filters)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754880" y="235000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kernel=3, ReLU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83680" y="2532888"/>
            <a:ext cx="27432" cy="118872"/>
          </a:xfrm>
          <a:prstGeom prst="rect">
            <a:avLst/>
          </a:prstGeom>
          <a:solidFill>
            <a:srgbClr val="607D8B"/>
          </a:solidFill>
          <a:ln/>
        </p:spPr>
      </p:sp>
      <p:sp>
        <p:nvSpPr>
          <p:cNvPr id="24" name="Shape 22"/>
          <p:cNvSpPr/>
          <p:nvPr/>
        </p:nvSpPr>
        <p:spPr>
          <a:xfrm>
            <a:off x="4663440" y="2651760"/>
            <a:ext cx="4023360" cy="384048"/>
          </a:xfrm>
          <a:prstGeom prst="rect">
            <a:avLst/>
          </a:prstGeom>
          <a:solidFill>
            <a:srgbClr val="A07010">
              <a:alpha val="20000"/>
            </a:srgbClr>
          </a:solidFill>
          <a:ln w="12700">
            <a:solidFill>
              <a:srgbClr val="A0701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67919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MaxPooling1D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285292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pool_size=2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6583680" y="3035808"/>
            <a:ext cx="27432" cy="118872"/>
          </a:xfrm>
          <a:prstGeom prst="rect">
            <a:avLst/>
          </a:prstGeom>
          <a:solidFill>
            <a:srgbClr val="607D8B"/>
          </a:solidFill>
          <a:ln/>
        </p:spPr>
      </p:sp>
      <p:sp>
        <p:nvSpPr>
          <p:cNvPr id="28" name="Shape 26"/>
          <p:cNvSpPr/>
          <p:nvPr/>
        </p:nvSpPr>
        <p:spPr>
          <a:xfrm>
            <a:off x="4663440" y="3154680"/>
            <a:ext cx="4023360" cy="384048"/>
          </a:xfrm>
          <a:prstGeom prst="rect">
            <a:avLst/>
          </a:prstGeom>
          <a:solidFill>
            <a:srgbClr val="2196F3">
              <a:alpha val="20000"/>
            </a:srgbClr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318211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LSTM (128 units)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54880" y="335584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return_sequences=True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583680" y="3538728"/>
            <a:ext cx="27432" cy="118872"/>
          </a:xfrm>
          <a:prstGeom prst="rect">
            <a:avLst/>
          </a:prstGeom>
          <a:solidFill>
            <a:srgbClr val="607D8B"/>
          </a:solidFill>
          <a:ln/>
        </p:spPr>
      </p:sp>
      <p:sp>
        <p:nvSpPr>
          <p:cNvPr id="32" name="Shape 30"/>
          <p:cNvSpPr/>
          <p:nvPr/>
        </p:nvSpPr>
        <p:spPr>
          <a:xfrm>
            <a:off x="4663440" y="3657600"/>
            <a:ext cx="4023360" cy="384048"/>
          </a:xfrm>
          <a:prstGeom prst="rect">
            <a:avLst/>
          </a:prstGeom>
          <a:solidFill>
            <a:srgbClr val="1976D2">
              <a:alpha val="20000"/>
            </a:srgbClr>
          </a:solidFill>
          <a:ln w="12700">
            <a:solidFill>
              <a:srgbClr val="1976D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368503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LSTM (64 units)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754880" y="385876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Dropout=0.2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583680" y="4041648"/>
            <a:ext cx="27432" cy="118872"/>
          </a:xfrm>
          <a:prstGeom prst="rect">
            <a:avLst/>
          </a:prstGeom>
          <a:solidFill>
            <a:srgbClr val="607D8B"/>
          </a:solidFill>
          <a:ln/>
        </p:spPr>
      </p:sp>
      <p:sp>
        <p:nvSpPr>
          <p:cNvPr id="36" name="Shape 34"/>
          <p:cNvSpPr/>
          <p:nvPr/>
        </p:nvSpPr>
        <p:spPr>
          <a:xfrm>
            <a:off x="4663440" y="4160520"/>
            <a:ext cx="4023360" cy="384048"/>
          </a:xfrm>
          <a:prstGeom prst="rect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54880" y="418795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Dense Output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4754880" y="4361688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EC5"/>
                </a:solidFill>
              </a:rPr>
              <a:t>Linear activation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A0701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2196F3"/>
                </a:solidFill>
              </a:rPr>
              <a:t>REINFORCEMENT LEARNING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01752" y="4953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PPO Agent — Savdo Qarori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2560320" cy="1371600"/>
          </a:xfrm>
          <a:prstGeom prst="rect">
            <a:avLst/>
          </a:prstGeom>
          <a:solidFill>
            <a:srgbClr val="0F1B2D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54864" cy="13716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2344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4A017"/>
                </a:solidFill>
              </a:rPr>
              <a:t>🌍 Environment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EC5"/>
                </a:solidFill>
              </a:rPr>
              <a:t>Bozor holati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0BEC5"/>
                </a:solidFill>
              </a:rPr>
              <a:t>(OHLCV, indicators)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91840" y="1143000"/>
            <a:ext cx="2560320" cy="1371600"/>
          </a:xfrm>
          <a:prstGeom prst="rect">
            <a:avLst/>
          </a:prstGeom>
          <a:solidFill>
            <a:srgbClr val="0B2447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91840" y="1143000"/>
            <a:ext cx="54864" cy="137160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2" name="Text 10"/>
          <p:cNvSpPr/>
          <p:nvPr/>
        </p:nvSpPr>
        <p:spPr>
          <a:xfrm>
            <a:off x="3474720" y="12344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96F3"/>
                </a:solidFill>
              </a:rPr>
              <a:t>🤖 PPO Agent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474720" y="1572768"/>
            <a:ext cx="2286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EC5"/>
                </a:solidFill>
              </a:rPr>
              <a:t>Policy Network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B0BEC5"/>
                </a:solidFill>
              </a:rPr>
              <a:t>(Actor + Critic)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6309360" y="1143000"/>
            <a:ext cx="2560320" cy="1371600"/>
          </a:xfrm>
          <a:prstGeom prst="rect">
            <a:avLst/>
          </a:prstGeom>
          <a:solidFill>
            <a:srgbClr val="0F1B2D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143000"/>
            <a:ext cx="54864" cy="13716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6" name="Text 14"/>
          <p:cNvSpPr/>
          <p:nvPr/>
        </p:nvSpPr>
        <p:spPr>
          <a:xfrm>
            <a:off x="6492240" y="12344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0B4D8"/>
                </a:solidFill>
              </a:rPr>
              <a:t>⚡ Action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6446520" y="1600200"/>
            <a:ext cx="1371600" cy="210312"/>
          </a:xfrm>
          <a:prstGeom prst="rect">
            <a:avLst/>
          </a:prstGeom>
          <a:solidFill>
            <a:srgbClr val="4CAF50">
              <a:alpha val="30000"/>
            </a:srgbClr>
          </a:solidFill>
          <a:ln w="12700">
            <a:solidFill>
              <a:srgbClr val="4CAF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46520" y="1600200"/>
            <a:ext cx="13716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BUY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446520" y="1856232"/>
            <a:ext cx="1371600" cy="210312"/>
          </a:xfrm>
          <a:prstGeom prst="rect">
            <a:avLst/>
          </a:prstGeom>
          <a:solidFill>
            <a:srgbClr val="F44336">
              <a:alpha val="30000"/>
            </a:srgbClr>
          </a:solidFill>
          <a:ln w="12700">
            <a:solidFill>
              <a:srgbClr val="F4433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1856232"/>
            <a:ext cx="13716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SELL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446520" y="2112264"/>
            <a:ext cx="1371600" cy="210312"/>
          </a:xfrm>
          <a:prstGeom prst="rect">
            <a:avLst/>
          </a:prstGeom>
          <a:solidFill>
            <a:srgbClr val="D4A017">
              <a:alpha val="30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2112264"/>
            <a:ext cx="1371600" cy="2103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</a:rPr>
              <a:t>HOLD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2834640" y="1792224"/>
            <a:ext cx="457200" cy="45720"/>
          </a:xfrm>
          <a:prstGeom prst="rect">
            <a:avLst/>
          </a:prstGeom>
          <a:solidFill>
            <a:srgbClr val="607D8B"/>
          </a:solidFill>
          <a:ln/>
        </p:spPr>
      </p:sp>
      <p:sp>
        <p:nvSpPr>
          <p:cNvPr id="24" name="Shape 22"/>
          <p:cNvSpPr/>
          <p:nvPr/>
        </p:nvSpPr>
        <p:spPr>
          <a:xfrm>
            <a:off x="5852160" y="1792224"/>
            <a:ext cx="457200" cy="45720"/>
          </a:xfrm>
          <a:prstGeom prst="rect">
            <a:avLst/>
          </a:prstGeom>
          <a:solidFill>
            <a:srgbClr val="607D8B"/>
          </a:solidFill>
          <a:ln/>
        </p:spPr>
      </p:sp>
      <p:sp>
        <p:nvSpPr>
          <p:cNvPr id="25" name="Shape 23"/>
          <p:cNvSpPr/>
          <p:nvPr/>
        </p:nvSpPr>
        <p:spPr>
          <a:xfrm>
            <a:off x="3291840" y="2743200"/>
            <a:ext cx="2560320" cy="685800"/>
          </a:xfrm>
          <a:prstGeom prst="rect">
            <a:avLst/>
          </a:prstGeom>
          <a:solidFill>
            <a:srgbClr val="141E2E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291840" y="2743200"/>
            <a:ext cx="54864" cy="6858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7" name="Text 25"/>
          <p:cNvSpPr/>
          <p:nvPr/>
        </p:nvSpPr>
        <p:spPr>
          <a:xfrm>
            <a:off x="3474720" y="2816352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CAF50"/>
                </a:solidFill>
              </a:rPr>
              <a:t>🏆 Reward Function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474720" y="310896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Foyda/Zarar → Reward signal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74320" y="2743200"/>
            <a:ext cx="2834640" cy="2103120"/>
          </a:xfrm>
          <a:prstGeom prst="rect">
            <a:avLst/>
          </a:prstGeom>
          <a:solidFill>
            <a:srgbClr val="141E2E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2743200"/>
            <a:ext cx="54864" cy="21031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1" name="Text 29"/>
          <p:cNvSpPr/>
          <p:nvPr/>
        </p:nvSpPr>
        <p:spPr>
          <a:xfrm>
            <a:off x="457200" y="28346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C842"/>
                </a:solidFill>
              </a:rPr>
              <a:t>State Space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57200" y="3154680"/>
            <a:ext cx="2560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0BEC5"/>
                </a:solidFill>
              </a:rPr>
              <a:t>Portfolio holati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0BEC5"/>
                </a:solidFill>
              </a:rPr>
              <a:t>Texnik indikatorlar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0BEC5"/>
                </a:solidFill>
              </a:rPr>
              <a:t>Ochiq pozitsiyalar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B0BEC5"/>
                </a:solidFill>
              </a:rPr>
              <a:t>P&amp;L (unrealized)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6035040" y="2743200"/>
            <a:ext cx="2834640" cy="2103120"/>
          </a:xfrm>
          <a:prstGeom prst="rect">
            <a:avLst/>
          </a:prstGeom>
          <a:solidFill>
            <a:srgbClr val="141E2E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035040" y="2743200"/>
            <a:ext cx="54864" cy="210312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35" name="Text 33"/>
          <p:cNvSpPr/>
          <p:nvPr/>
        </p:nvSpPr>
        <p:spPr>
          <a:xfrm>
            <a:off x="6217920" y="283464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96F3"/>
                </a:solidFill>
              </a:rPr>
              <a:t>PPO Xususiyatlari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6217920" y="3154680"/>
            <a:ext cx="25603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</a:rPr>
              <a:t>Clipped objective function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</a:rPr>
              <a:t>ε = 0.2 (clipping range)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</a:rPr>
              <a:t>Actor-Critic arxitektura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B0BEC5"/>
                </a:solidFill>
              </a:rPr>
              <a:t>Stable Baselines3 kutubxonasi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046720" y="4846320"/>
            <a:ext cx="914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07D8B"/>
                </a:solidFill>
              </a:rPr>
              <a:t>10 / 20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A0701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00B4D8"/>
                </a:solidFill>
              </a:rPr>
              <a:t>SENTIMENT TAHLILI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Transformer — NLP Model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274320" y="1097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07D8B"/>
                </a:solidFill>
              </a:rPr>
              <a:t>Ma'lumot manbalari: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274320" y="1417320"/>
            <a:ext cx="1920240" cy="594360"/>
          </a:xfrm>
          <a:prstGeom prst="rect">
            <a:avLst/>
          </a:prstGeom>
          <a:solidFill>
            <a:srgbClr val="0F1B2D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15087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196F3"/>
                </a:solidFill>
              </a:rPr>
              <a:t>📰 Reuters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468880" y="1417320"/>
            <a:ext cx="1920240" cy="594360"/>
          </a:xfrm>
          <a:prstGeom prst="rect">
            <a:avLst/>
          </a:prstGeom>
          <a:solidFill>
            <a:srgbClr val="0F1B2D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560320" y="15087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0B4D8"/>
                </a:solidFill>
              </a:rPr>
              <a:t>📱 Twitter/X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1920240" cy="594360"/>
          </a:xfrm>
          <a:prstGeom prst="rect">
            <a:avLst/>
          </a:prstGeom>
          <a:solidFill>
            <a:srgbClr val="0F1B2D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754880" y="15087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6B35"/>
                </a:solidFill>
              </a:rPr>
              <a:t>💬 Reddit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0" y="1417320"/>
            <a:ext cx="1920240" cy="594360"/>
          </a:xfrm>
          <a:prstGeom prst="rect">
            <a:avLst/>
          </a:prstGeom>
          <a:solidFill>
            <a:srgbClr val="0F1B2D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49440" y="1508760"/>
            <a:ext cx="1737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4A017"/>
                </a:solidFill>
              </a:rPr>
              <a:t>🏦 Fed Speeches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74320" y="21488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07D8B"/>
                </a:solidFill>
              </a:rPr>
              <a:t>Pipeline: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74320" y="2468880"/>
            <a:ext cx="8595360" cy="502920"/>
          </a:xfrm>
          <a:prstGeom prst="rect">
            <a:avLst/>
          </a:prstGeom>
          <a:solidFill>
            <a:srgbClr val="141E2E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2468880"/>
            <a:ext cx="54864" cy="502920"/>
          </a:xfrm>
          <a:prstGeom prst="rect">
            <a:avLst/>
          </a:prstGeom>
          <a:solidFill>
            <a:srgbClr val="607D8B"/>
          </a:solidFill>
          <a:ln/>
        </p:spPr>
      </p:sp>
      <p:sp>
        <p:nvSpPr>
          <p:cNvPr id="18" name="Text 16"/>
          <p:cNvSpPr/>
          <p:nvPr/>
        </p:nvSpPr>
        <p:spPr>
          <a:xfrm>
            <a:off x="457200" y="25146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607D8B"/>
                </a:solidFill>
              </a:rPr>
              <a:t>1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960120" y="254203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Text Preprocessing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754880" y="254203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Tokenization, Lowercasing, Stop-words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74320" y="3108960"/>
            <a:ext cx="8595360" cy="502920"/>
          </a:xfrm>
          <a:prstGeom prst="rect">
            <a:avLst/>
          </a:prstGeom>
          <a:solidFill>
            <a:srgbClr val="141E2E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74320" y="3108960"/>
            <a:ext cx="54864" cy="50292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1546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196F3"/>
                </a:solidFill>
              </a:rPr>
              <a:t>2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60120" y="318211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FinBERT Model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4754880" y="318211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Finance-specific BERT (Pretrained)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274320" y="3749040"/>
            <a:ext cx="8595360" cy="502920"/>
          </a:xfrm>
          <a:prstGeom prst="rect">
            <a:avLst/>
          </a:prstGeom>
          <a:solidFill>
            <a:srgbClr val="141E2E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274320" y="3749040"/>
            <a:ext cx="54864" cy="5029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37947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0B4D8"/>
                </a:solidFill>
              </a:rPr>
              <a:t>3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960120" y="382219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Sentiment Score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4754880" y="382219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Positive / Neutral / Negative [−1, 1]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274320" y="4389120"/>
            <a:ext cx="8595360" cy="502920"/>
          </a:xfrm>
          <a:prstGeom prst="rect">
            <a:avLst/>
          </a:prstGeom>
          <a:solidFill>
            <a:srgbClr val="141E2E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4389120"/>
            <a:ext cx="54864" cy="5029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3" name="Text 31"/>
          <p:cNvSpPr/>
          <p:nvPr/>
        </p:nvSpPr>
        <p:spPr>
          <a:xfrm>
            <a:off x="457200" y="44348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D4A017"/>
                </a:solidFill>
              </a:rPr>
              <a:t>4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960120" y="44622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Feature Integration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754880" y="4462272"/>
            <a:ext cx="3931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CNN+LSTM model ga qo'shish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274320" y="5029200"/>
            <a:ext cx="8595360" cy="0"/>
          </a:xfrm>
          <a:prstGeom prst="rect">
            <a:avLst/>
          </a:prstGeom>
          <a:solidFill>
            <a:srgbClr val="141E2E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A0701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400" dirty="0">
                <a:solidFill>
                  <a:srgbClr val="D4A017"/>
                </a:solidFill>
              </a:rPr>
              <a:t>AI PIPELINE DIAGRAMMASI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65760" y="53492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Input → Process → Output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182880" y="1371600"/>
            <a:ext cx="1280160" cy="1097280"/>
          </a:xfrm>
          <a:prstGeom prst="rect">
            <a:avLst/>
          </a:prstGeom>
          <a:solidFill>
            <a:srgbClr val="607D8B">
              <a:alpha val="25000"/>
            </a:srgbClr>
          </a:solidFill>
          <a:ln w="25400">
            <a:solidFill>
              <a:srgbClr val="607D8B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82880" y="1463040"/>
            <a:ext cx="1280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Raw Data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(MT5)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82880" y="2057400"/>
            <a:ext cx="1280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</a:rPr>
              <a:t>OHLCV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463040" y="1874520"/>
            <a:ext cx="182880" cy="59436"/>
          </a:xfrm>
          <a:prstGeom prst="rect">
            <a:avLst/>
          </a:prstGeom>
          <a:solidFill>
            <a:srgbClr val="607D8B"/>
          </a:solidFill>
          <a:ln/>
        </p:spPr>
      </p:sp>
      <p:sp>
        <p:nvSpPr>
          <p:cNvPr id="10" name="Shape 8"/>
          <p:cNvSpPr/>
          <p:nvPr/>
        </p:nvSpPr>
        <p:spPr>
          <a:xfrm>
            <a:off x="1645920" y="1371600"/>
            <a:ext cx="1371600" cy="1097280"/>
          </a:xfrm>
          <a:prstGeom prst="rect">
            <a:avLst/>
          </a:prstGeom>
          <a:solidFill>
            <a:srgbClr val="D4A017">
              <a:alpha val="25000"/>
            </a:srgbClr>
          </a:solidFill>
          <a:ln w="25400">
            <a:solidFill>
              <a:srgbClr val="D4A017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645920" y="14630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Preprocessing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645920" y="2057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</a:rPr>
              <a:t>Clean + Norm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017520" y="1874520"/>
            <a:ext cx="182880" cy="73152"/>
          </a:xfrm>
          <a:prstGeom prst="rect">
            <a:avLst/>
          </a:prstGeom>
          <a:solidFill>
            <a:srgbClr val="607D8B"/>
          </a:solidFill>
          <a:ln/>
        </p:spPr>
      </p:sp>
      <p:sp>
        <p:nvSpPr>
          <p:cNvPr id="14" name="Shape 12"/>
          <p:cNvSpPr/>
          <p:nvPr/>
        </p:nvSpPr>
        <p:spPr>
          <a:xfrm>
            <a:off x="3200400" y="1371600"/>
            <a:ext cx="1371600" cy="1097280"/>
          </a:xfrm>
          <a:prstGeom prst="rect">
            <a:avLst/>
          </a:prstGeom>
          <a:solidFill>
            <a:srgbClr val="F5C842">
              <a:alpha val="25000"/>
            </a:srgbClr>
          </a:solidFill>
          <a:ln w="25400">
            <a:solidFill>
              <a:srgbClr val="F5C842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00400" y="14630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Feature Eng.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200400" y="2057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</a:rPr>
              <a:t>EMA/RSI/MACD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572000" y="1874520"/>
            <a:ext cx="182880" cy="59436"/>
          </a:xfrm>
          <a:prstGeom prst="rect">
            <a:avLst/>
          </a:prstGeom>
          <a:solidFill>
            <a:srgbClr val="607D8B"/>
          </a:solidFill>
          <a:ln/>
        </p:spPr>
      </p:sp>
      <p:sp>
        <p:nvSpPr>
          <p:cNvPr id="18" name="Shape 16"/>
          <p:cNvSpPr/>
          <p:nvPr/>
        </p:nvSpPr>
        <p:spPr>
          <a:xfrm>
            <a:off x="4754880" y="1371600"/>
            <a:ext cx="1371600" cy="1097280"/>
          </a:xfrm>
          <a:prstGeom prst="rect">
            <a:avLst/>
          </a:prstGeom>
          <a:solidFill>
            <a:srgbClr val="2196F3">
              <a:alpha val="25000"/>
            </a:srgbClr>
          </a:solidFill>
          <a:ln w="25400">
            <a:solidFill>
              <a:srgbClr val="2196F3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14630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CNN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+LSTM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754880" y="2057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</a:rPr>
              <a:t>Price Prediction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126480" y="1874520"/>
            <a:ext cx="182880" cy="73152"/>
          </a:xfrm>
          <a:prstGeom prst="rect">
            <a:avLst/>
          </a:prstGeom>
          <a:solidFill>
            <a:srgbClr val="607D8B"/>
          </a:solidFill>
          <a:ln/>
        </p:spPr>
      </p:sp>
      <p:sp>
        <p:nvSpPr>
          <p:cNvPr id="22" name="Shape 20"/>
          <p:cNvSpPr/>
          <p:nvPr/>
        </p:nvSpPr>
        <p:spPr>
          <a:xfrm>
            <a:off x="6309360" y="1371600"/>
            <a:ext cx="1371600" cy="1097280"/>
          </a:xfrm>
          <a:prstGeom prst="rect">
            <a:avLst/>
          </a:prstGeom>
          <a:solidFill>
            <a:srgbClr val="00B4D8">
              <a:alpha val="25000"/>
            </a:srgbClr>
          </a:solidFill>
          <a:ln w="254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309360" y="146304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PPO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Agent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09360" y="205740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</a:rPr>
              <a:t>RL Decision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680960" y="1874520"/>
            <a:ext cx="182880" cy="73152"/>
          </a:xfrm>
          <a:prstGeom prst="rect">
            <a:avLst/>
          </a:prstGeom>
          <a:solidFill>
            <a:srgbClr val="607D8B"/>
          </a:solidFill>
          <a:ln/>
        </p:spPr>
      </p:sp>
      <p:sp>
        <p:nvSpPr>
          <p:cNvPr id="26" name="Shape 24"/>
          <p:cNvSpPr/>
          <p:nvPr/>
        </p:nvSpPr>
        <p:spPr>
          <a:xfrm>
            <a:off x="7863840" y="1371600"/>
            <a:ext cx="1188720" cy="1097280"/>
          </a:xfrm>
          <a:prstGeom prst="rect">
            <a:avLst/>
          </a:prstGeom>
          <a:solidFill>
            <a:srgbClr val="4CAF50">
              <a:alpha val="25000"/>
            </a:srgbClr>
          </a:solidFill>
          <a:ln w="25400">
            <a:solidFill>
              <a:srgbClr val="4CAF5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863840" y="1463040"/>
            <a:ext cx="1188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Signal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</a:rPr>
              <a:t>Output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7863840" y="205740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</a:rPr>
              <a:t>Buy/Sell/Hold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91440" y="27076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07D8B"/>
                </a:solidFill>
              </a:rPr>
              <a:t>Sentiment Stream:</a:t>
            </a:r>
            <a:endParaRPr lang="en-US" sz="2000" dirty="0"/>
          </a:p>
        </p:txBody>
      </p:sp>
      <p:sp>
        <p:nvSpPr>
          <p:cNvPr id="30" name="Shape 28"/>
          <p:cNvSpPr/>
          <p:nvPr/>
        </p:nvSpPr>
        <p:spPr>
          <a:xfrm>
            <a:off x="182880" y="3063240"/>
            <a:ext cx="1737360" cy="640080"/>
          </a:xfrm>
          <a:prstGeom prst="rect">
            <a:avLst/>
          </a:prstGeom>
          <a:solidFill>
            <a:srgbClr val="00B4D8">
              <a:alpha val="20000"/>
            </a:srgbClr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82880" y="31546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News/Twitter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920240" y="3337560"/>
            <a:ext cx="182880" cy="59436"/>
          </a:xfrm>
          <a:prstGeom prst="rect">
            <a:avLst/>
          </a:prstGeom>
          <a:solidFill>
            <a:srgbClr val="607D8B"/>
          </a:solidFill>
          <a:ln/>
        </p:spPr>
      </p:sp>
      <p:sp>
        <p:nvSpPr>
          <p:cNvPr id="33" name="Shape 31"/>
          <p:cNvSpPr/>
          <p:nvPr/>
        </p:nvSpPr>
        <p:spPr>
          <a:xfrm>
            <a:off x="2103120" y="3063240"/>
            <a:ext cx="1737360" cy="640080"/>
          </a:xfrm>
          <a:prstGeom prst="rect">
            <a:avLst/>
          </a:prstGeom>
          <a:solidFill>
            <a:srgbClr val="2196F3">
              <a:alpha val="20000"/>
            </a:srgbClr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103120" y="31546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FinBERT NLP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840480" y="3337560"/>
            <a:ext cx="182880" cy="45720"/>
          </a:xfrm>
          <a:prstGeom prst="rect">
            <a:avLst/>
          </a:prstGeom>
          <a:solidFill>
            <a:srgbClr val="607D8B"/>
          </a:solidFill>
          <a:ln/>
        </p:spPr>
      </p:sp>
      <p:sp>
        <p:nvSpPr>
          <p:cNvPr id="36" name="Shape 34"/>
          <p:cNvSpPr/>
          <p:nvPr/>
        </p:nvSpPr>
        <p:spPr>
          <a:xfrm>
            <a:off x="4023360" y="3063240"/>
            <a:ext cx="1737360" cy="640080"/>
          </a:xfrm>
          <a:prstGeom prst="rect">
            <a:avLst/>
          </a:prstGeom>
          <a:solidFill>
            <a:srgbClr val="D4A017">
              <a:alpha val="20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023360" y="3154680"/>
            <a:ext cx="1737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Sentiment Score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217920" y="3421380"/>
            <a:ext cx="54864" cy="49225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9" name="Shape 37"/>
          <p:cNvSpPr/>
          <p:nvPr/>
        </p:nvSpPr>
        <p:spPr>
          <a:xfrm>
            <a:off x="5760720" y="3383280"/>
            <a:ext cx="512064" cy="457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0" name="Text 38"/>
          <p:cNvSpPr/>
          <p:nvPr/>
        </p:nvSpPr>
        <p:spPr>
          <a:xfrm>
            <a:off x="4096512" y="34290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D4A017"/>
                </a:solidFill>
              </a:rPr>
              <a:t>→ CNN+LSTM ga integratsiya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74320" y="3977640"/>
            <a:ext cx="8595360" cy="822960"/>
          </a:xfrm>
          <a:prstGeom prst="rect">
            <a:avLst/>
          </a:prstGeom>
          <a:solidFill>
            <a:srgbClr val="0B2447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274320" y="3977640"/>
            <a:ext cx="54864" cy="82296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43" name="Text 41"/>
          <p:cNvSpPr/>
          <p:nvPr/>
        </p:nvSpPr>
        <p:spPr>
          <a:xfrm>
            <a:off x="457200" y="4041648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CAF50"/>
                </a:solidFill>
              </a:rPr>
              <a:t>✅  Final Output</a:t>
            </a:r>
            <a:endParaRPr lang="en-US" sz="1600" dirty="0"/>
          </a:p>
        </p:txBody>
      </p:sp>
      <p:sp>
        <p:nvSpPr>
          <p:cNvPr id="44" name="Text 42"/>
          <p:cNvSpPr/>
          <p:nvPr/>
        </p:nvSpPr>
        <p:spPr>
          <a:xfrm>
            <a:off x="2468880" y="4041648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Narx bashorati + Savdo signali + Telegram xabar → Foydalanuvchi</a:t>
            </a:r>
            <a:endParaRPr lang="en-US" sz="1600" dirty="0"/>
          </a:p>
        </p:txBody>
      </p:sp>
      <p:sp>
        <p:nvSpPr>
          <p:cNvPr id="45" name="Text 43"/>
          <p:cNvSpPr/>
          <p:nvPr/>
        </p:nvSpPr>
        <p:spPr>
          <a:xfrm>
            <a:off x="457200" y="4370832"/>
            <a:ext cx="8321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CNN+LSTM narx → PPO qaror → Ensemble signal → Telegram Bot → BUY/SELL/HOLD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A07010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13030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D4A017"/>
                </a:solidFill>
              </a:rPr>
              <a:t>MODELNI O'QITISH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274320" y="45034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Training Pipeline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5029200" cy="1280160"/>
          </a:xfrm>
          <a:prstGeom prst="rect">
            <a:avLst/>
          </a:prstGeom>
          <a:solidFill>
            <a:srgbClr val="141E2E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54864" cy="128016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887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F5C842"/>
                </a:solidFill>
              </a:rPr>
              <a:t>Dataset Bo'lish</a:t>
            </a:r>
            <a:endParaRPr lang="en-US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2880360" cy="365760"/>
          </a:xfrm>
          <a:prstGeom prst="rect">
            <a:avLst/>
          </a:prstGeom>
          <a:solidFill>
            <a:srgbClr val="D4A017">
              <a:alpha val="70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645920"/>
            <a:ext cx="2880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Train 70%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383280" y="1600200"/>
            <a:ext cx="850392" cy="365760"/>
          </a:xfrm>
          <a:prstGeom prst="rect">
            <a:avLst/>
          </a:prstGeom>
          <a:solidFill>
            <a:srgbClr val="2196F3">
              <a:alpha val="7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3383280" y="1645920"/>
            <a:ext cx="850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Validation 15%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279392" y="1600200"/>
            <a:ext cx="850392" cy="365760"/>
          </a:xfrm>
          <a:prstGeom prst="rect">
            <a:avLst/>
          </a:prstGeom>
          <a:solidFill>
            <a:srgbClr val="00B4D8">
              <a:alpha val="7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4279392" y="1645920"/>
            <a:ext cx="850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Test 15%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029968"/>
            <a:ext cx="4663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2015–2020: Train  |  2021: Val  |  2022–2024: Test (Out-of-sample)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0" y="1097280"/>
            <a:ext cx="3383280" cy="1280160"/>
          </a:xfrm>
          <a:prstGeom prst="rect">
            <a:avLst/>
          </a:prstGeom>
          <a:solidFill>
            <a:srgbClr val="141E2E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0" y="1097280"/>
            <a:ext cx="54864" cy="128016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8" name="Text 16"/>
          <p:cNvSpPr/>
          <p:nvPr/>
        </p:nvSpPr>
        <p:spPr>
          <a:xfrm>
            <a:off x="5669280" y="118872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2196F3"/>
                </a:solidFill>
              </a:rPr>
              <a:t>Hyperparameters</a:t>
            </a: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669280" y="1508760"/>
            <a:ext cx="3108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</a:rPr>
              <a:t>Batch size: 64  |  Epochs: 100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</a:rPr>
              <a:t>Learning rate: 0.001 (Adam)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0BEC5"/>
                </a:solidFill>
              </a:rPr>
              <a:t>Dropout: 0.2  |  Window: 60</a:t>
            </a:r>
            <a:endParaRPr lang="en-US" sz="1200" dirty="0"/>
          </a:p>
        </p:txBody>
      </p:sp>
      <p:graphicFrame>
        <p:nvGraphicFramePr>
          <p:cNvPr id="20" name="Chart 0"/>
          <p:cNvGraphicFramePr/>
          <p:nvPr>
            <p:extLst>
              <p:ext uri="{D42A27DB-BD31-4B8C-83A1-F6EECF244321}">
                <p14:modId xmlns:p14="http://schemas.microsoft.com/office/powerpoint/2010/main" val="1001399279"/>
              </p:ext>
            </p:extLst>
          </p:nvPr>
        </p:nvGraphicFramePr>
        <p:xfrm>
          <a:off x="274320" y="2514600"/>
          <a:ext cx="8595360" cy="2423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A0701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400" dirty="0">
                <a:solidFill>
                  <a:srgbClr val="D4A017"/>
                </a:solidFill>
              </a:rPr>
              <a:t>MODEL BAHOLASH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29184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Evaluation Metrics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743200" cy="1828800"/>
          </a:xfrm>
          <a:prstGeom prst="rect">
            <a:avLst/>
          </a:prstGeom>
          <a:solidFill>
            <a:srgbClr val="141E2E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54864" cy="18288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2344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4A017"/>
                </a:solidFill>
              </a:rPr>
              <a:t>87.3%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74320" y="1920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Precision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74320" y="221284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07D8B"/>
                </a:solidFill>
              </a:rPr>
              <a:t>TP / (TP + FP)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4871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</a:rPr>
              <a:t>To'g'ri bashorat qilingan signallar nisbati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27832" y="1097280"/>
            <a:ext cx="2743200" cy="1828800"/>
          </a:xfrm>
          <a:prstGeom prst="rect">
            <a:avLst/>
          </a:prstGeom>
          <a:solidFill>
            <a:srgbClr val="141E2E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27832" y="1097280"/>
            <a:ext cx="54864" cy="182880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4" name="Text 12"/>
          <p:cNvSpPr/>
          <p:nvPr/>
        </p:nvSpPr>
        <p:spPr>
          <a:xfrm>
            <a:off x="3227832" y="12344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2196F3"/>
                </a:solidFill>
              </a:rPr>
              <a:t>84.1%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3227832" y="1920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Recall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227832" y="221284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07D8B"/>
                </a:solidFill>
              </a:rPr>
              <a:t>TP / (TP + FN)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19272" y="24871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</a:rPr>
              <a:t>Haqiqiy signallarni aniqlash darajasi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181344" y="1097280"/>
            <a:ext cx="2743200" cy="1828800"/>
          </a:xfrm>
          <a:prstGeom prst="rect">
            <a:avLst/>
          </a:prstGeom>
          <a:solidFill>
            <a:srgbClr val="141E2E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81344" y="1097280"/>
            <a:ext cx="54864" cy="18288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6181344" y="123444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00B4D8"/>
                </a:solidFill>
              </a:rPr>
              <a:t>85.7%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6181344" y="192024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F1-Score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181344" y="221284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07D8B"/>
                </a:solidFill>
              </a:rPr>
              <a:t>2 × (P × R)/(P + R)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272784" y="248716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</a:rPr>
              <a:t>Precision va Recall o'rtacha ko'rsatkichi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3063240"/>
            <a:ext cx="4114800" cy="1737360"/>
          </a:xfrm>
          <a:prstGeom prst="rect">
            <a:avLst/>
          </a:prstGeom>
          <a:solidFill>
            <a:srgbClr val="141E2E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3063240"/>
            <a:ext cx="54864" cy="173736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" y="3154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C842"/>
                </a:solidFill>
              </a:rPr>
              <a:t>Boshqa Ko'rsatkichlar</a:t>
            </a:r>
            <a:endParaRPr lang="en-US" sz="14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8970112"/>
              </p:ext>
            </p:extLst>
          </p:nvPr>
        </p:nvGraphicFramePr>
        <p:xfrm>
          <a:off x="457200" y="3493008"/>
          <a:ext cx="3657600" cy="11887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RMSE (Price prediction)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5C842"/>
                          </a:solidFill>
                        </a:rPr>
                        <a:t>12.4 USD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MAE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5C842"/>
                          </a:solidFill>
                        </a:rPr>
                        <a:t>8.7 USD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Sharpe Ratio (RL)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5C842"/>
                          </a:solidFill>
                        </a:rPr>
                        <a:t>1.82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71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B0BEC5"/>
                          </a:solidFill>
                        </a:rPr>
                        <a:t>Max Drawdown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5C842"/>
                          </a:solidFill>
                        </a:rPr>
                        <a:t>−14.2%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565C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4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28" name="Chart 0"/>
          <p:cNvGraphicFramePr/>
          <p:nvPr>
            <p:extLst>
              <p:ext uri="{D42A27DB-BD31-4B8C-83A1-F6EECF244321}">
                <p14:modId xmlns:p14="http://schemas.microsoft.com/office/powerpoint/2010/main" val="1176191570"/>
              </p:ext>
            </p:extLst>
          </p:nvPr>
        </p:nvGraphicFramePr>
        <p:xfrm>
          <a:off x="4572000" y="3063240"/>
          <a:ext cx="4297680" cy="1737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A0701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D4A017"/>
                </a:solidFill>
              </a:rPr>
              <a:t>NATIJALAR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Prognoz &amp; Savdo Natijalari</a:t>
            </a:r>
            <a:endParaRPr lang="en-US" sz="2800" dirty="0"/>
          </a:p>
        </p:txBody>
      </p:sp>
      <p:graphicFrame>
        <p:nvGraphicFramePr>
          <p:cNvPr id="6" name="Chart 0"/>
          <p:cNvGraphicFramePr/>
          <p:nvPr>
            <p:extLst>
              <p:ext uri="{D42A27DB-BD31-4B8C-83A1-F6EECF244321}">
                <p14:modId xmlns:p14="http://schemas.microsoft.com/office/powerpoint/2010/main" val="2612966143"/>
              </p:ext>
            </p:extLst>
          </p:nvPr>
        </p:nvGraphicFramePr>
        <p:xfrm>
          <a:off x="274320" y="1097280"/>
          <a:ext cx="8595360" cy="24688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274320" y="3703320"/>
            <a:ext cx="2011680" cy="1143000"/>
          </a:xfrm>
          <a:prstGeom prst="rect">
            <a:avLst/>
          </a:prstGeom>
          <a:solidFill>
            <a:srgbClr val="141E2E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274320" y="3703320"/>
            <a:ext cx="54864" cy="11430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9" name="Text 6"/>
          <p:cNvSpPr/>
          <p:nvPr/>
        </p:nvSpPr>
        <p:spPr>
          <a:xfrm>
            <a:off x="274320" y="376732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4CAF50"/>
                </a:solidFill>
              </a:rPr>
              <a:t>243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365760" y="4343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</a:rPr>
              <a:t>BUY signallari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2468880" y="3703320"/>
            <a:ext cx="2011680" cy="1143000"/>
          </a:xfrm>
          <a:prstGeom prst="rect">
            <a:avLst/>
          </a:prstGeom>
          <a:solidFill>
            <a:srgbClr val="141E2E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468880" y="3703320"/>
            <a:ext cx="54864" cy="1143000"/>
          </a:xfrm>
          <a:prstGeom prst="rect">
            <a:avLst/>
          </a:prstGeom>
          <a:solidFill>
            <a:srgbClr val="F44336"/>
          </a:solidFill>
          <a:ln/>
        </p:spPr>
      </p:sp>
      <p:sp>
        <p:nvSpPr>
          <p:cNvPr id="13" name="Text 10"/>
          <p:cNvSpPr/>
          <p:nvPr/>
        </p:nvSpPr>
        <p:spPr>
          <a:xfrm>
            <a:off x="2468880" y="376732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44336"/>
                </a:solidFill>
              </a:rPr>
              <a:t>198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2560320" y="4343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</a:rPr>
              <a:t>SELL signallari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4663440" y="3703320"/>
            <a:ext cx="2011680" cy="1143000"/>
          </a:xfrm>
          <a:prstGeom prst="rect">
            <a:avLst/>
          </a:prstGeom>
          <a:solidFill>
            <a:srgbClr val="141E2E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4663440" y="3703320"/>
            <a:ext cx="54864" cy="1143000"/>
          </a:xfrm>
          <a:prstGeom prst="rect">
            <a:avLst/>
          </a:prstGeom>
          <a:solidFill>
            <a:srgbClr val="F5C842"/>
          </a:solidFill>
          <a:ln/>
        </p:spPr>
      </p:sp>
      <p:sp>
        <p:nvSpPr>
          <p:cNvPr id="17" name="Text 14"/>
          <p:cNvSpPr/>
          <p:nvPr/>
        </p:nvSpPr>
        <p:spPr>
          <a:xfrm>
            <a:off x="4663440" y="376732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5C842"/>
                </a:solidFill>
              </a:rPr>
              <a:t>87.3%</a:t>
            </a:r>
            <a:endParaRPr lang="en-US" sz="2600" dirty="0"/>
          </a:p>
        </p:txBody>
      </p:sp>
      <p:sp>
        <p:nvSpPr>
          <p:cNvPr id="18" name="Text 15"/>
          <p:cNvSpPr/>
          <p:nvPr/>
        </p:nvSpPr>
        <p:spPr>
          <a:xfrm>
            <a:off x="4754880" y="4343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</a:rPr>
              <a:t>To'g'ri signallar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6858000" y="3703320"/>
            <a:ext cx="2011680" cy="1143000"/>
          </a:xfrm>
          <a:prstGeom prst="rect">
            <a:avLst/>
          </a:prstGeom>
          <a:solidFill>
            <a:srgbClr val="141E2E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6858000" y="3703320"/>
            <a:ext cx="54864" cy="11430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1" name="Text 18"/>
          <p:cNvSpPr/>
          <p:nvPr/>
        </p:nvSpPr>
        <p:spPr>
          <a:xfrm>
            <a:off x="6858000" y="3767328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0B4D8"/>
                </a:solidFill>
              </a:rPr>
              <a:t>+38.4%</a:t>
            </a:r>
            <a:endParaRPr lang="en-US" sz="2600" dirty="0"/>
          </a:p>
        </p:txBody>
      </p:sp>
      <p:sp>
        <p:nvSpPr>
          <p:cNvPr id="22" name="Text 19"/>
          <p:cNvSpPr/>
          <p:nvPr/>
        </p:nvSpPr>
        <p:spPr>
          <a:xfrm>
            <a:off x="6949440" y="434340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B0BEC5"/>
                </a:solidFill>
              </a:rPr>
              <a:t>Yillik foyda (backtest)</a:t>
            </a:r>
            <a:endParaRPr lang="en-US" sz="900" dirty="0"/>
          </a:p>
        </p:txBody>
      </p:sp>
      <p:graphicFrame>
        <p:nvGraphicFramePr>
          <p:cNvPr id="24" name="Таблица 23">
            <a:extLst>
              <a:ext uri="{FF2B5EF4-FFF2-40B4-BE49-F238E27FC236}">
                <a16:creationId xmlns:a16="http://schemas.microsoft.com/office/drawing/2014/main" id="{39720C36-ABB8-5545-8347-66C50832268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23280318"/>
              </p:ext>
            </p:extLst>
          </p:nvPr>
        </p:nvGraphicFramePr>
        <p:xfrm>
          <a:off x="274320" y="1389380"/>
          <a:ext cx="522732" cy="194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2732">
                  <a:extLst>
                    <a:ext uri="{9D8B030D-6E8A-4147-A177-3AD203B41FA5}">
                      <a16:colId xmlns:a16="http://schemas.microsoft.com/office/drawing/2014/main" val="2447048465"/>
                    </a:ext>
                  </a:extLst>
                </a:gridCol>
              </a:tblGrid>
              <a:tr h="388112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6500</a:t>
                      </a:r>
                      <a:endParaRPr lang="ru-RU" sz="1200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381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6519560"/>
                  </a:ext>
                </a:extLst>
              </a:tr>
              <a:tr h="388112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5500</a:t>
                      </a:r>
                      <a:endParaRPr lang="ru-RU" sz="1200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381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51042115"/>
                  </a:ext>
                </a:extLst>
              </a:tr>
              <a:tr h="388112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4500</a:t>
                      </a:r>
                      <a:endParaRPr lang="ru-RU" sz="1200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1742050"/>
                  </a:ext>
                </a:extLst>
              </a:tr>
              <a:tr h="388112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3500</a:t>
                      </a:r>
                      <a:endParaRPr lang="ru-RU" sz="1200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07781561"/>
                  </a:ext>
                </a:extLst>
              </a:tr>
              <a:tr h="388112">
                <a:tc>
                  <a:txBody>
                    <a:bodyPr/>
                    <a:lstStyle/>
                    <a:p>
                      <a:r>
                        <a:rPr lang="en-US" sz="1200" dirty="0">
                          <a:solidFill>
                            <a:schemeClr val="bg2">
                              <a:lumMod val="75000"/>
                            </a:schemeClr>
                          </a:solidFill>
                        </a:rPr>
                        <a:t>2500</a:t>
                      </a:r>
                      <a:endParaRPr lang="ru-RU" sz="1200" dirty="0">
                        <a:solidFill>
                          <a:schemeClr val="bg2">
                            <a:lumMod val="75000"/>
                          </a:schemeClr>
                        </a:solidFill>
                      </a:endParaRPr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141E2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702155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11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0512865-B5F4-09A8-3B18-D7F3CCA188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A47F294-3984-67AD-AA11-8D28BA6729C7}"/>
              </a:ext>
            </a:extLst>
          </p:cNvPr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41D72F6-5368-08D1-A537-82A2C8C3DE13}"/>
              </a:ext>
            </a:extLst>
          </p:cNvPr>
          <p:cNvSpPr/>
          <p:nvPr/>
        </p:nvSpPr>
        <p:spPr>
          <a:xfrm>
            <a:off x="365760" y="137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400" b="1" kern="0" spc="400" dirty="0">
                <a:solidFill>
                  <a:srgbClr val="D4A017"/>
                </a:solidFill>
                <a:latin typeface="Calibri" panose="020F0502020204030204"/>
              </a:rPr>
              <a:t>Telegramdan </a:t>
            </a:r>
            <a:r>
              <a:rPr lang="en-US" sz="1400" b="1" kern="0" spc="400" dirty="0" err="1">
                <a:solidFill>
                  <a:srgbClr val="D4A017"/>
                </a:solidFill>
                <a:latin typeface="Calibri" panose="020F0502020204030204"/>
              </a:rPr>
              <a:t>berilgan</a:t>
            </a:r>
            <a:r>
              <a:rPr lang="en-US" sz="1400" b="1" kern="0" spc="400" dirty="0">
                <a:solidFill>
                  <a:srgbClr val="D4A017"/>
                </a:solidFill>
                <a:latin typeface="Calibri" panose="020F0502020204030204"/>
              </a:rPr>
              <a:t> </a:t>
            </a:r>
            <a:r>
              <a:rPr lang="en-US" sz="1400" b="1" kern="0" spc="400" dirty="0" err="1">
                <a:solidFill>
                  <a:srgbClr val="D4A017"/>
                </a:solidFill>
                <a:latin typeface="Calibri" panose="020F0502020204030204"/>
              </a:rPr>
              <a:t>signallar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1" name="Рисунок 30">
            <a:extLst>
              <a:ext uri="{FF2B5EF4-FFF2-40B4-BE49-F238E27FC236}">
                <a16:creationId xmlns:a16="http://schemas.microsoft.com/office/drawing/2014/main" id="{85DF068C-E845-A544-8F60-AF4EDCD059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" y="701755"/>
            <a:ext cx="2613277" cy="1721406"/>
          </a:xfrm>
          <a:prstGeom prst="rect">
            <a:avLst/>
          </a:prstGeom>
        </p:spPr>
      </p:pic>
      <p:pic>
        <p:nvPicPr>
          <p:cNvPr id="33" name="Рисунок 32">
            <a:extLst>
              <a:ext uri="{FF2B5EF4-FFF2-40B4-BE49-F238E27FC236}">
                <a16:creationId xmlns:a16="http://schemas.microsoft.com/office/drawing/2014/main" id="{AC7DD97A-711B-B25D-0AF3-4A640AD03E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93337" y="793369"/>
            <a:ext cx="2299911" cy="1721406"/>
          </a:xfrm>
          <a:prstGeom prst="rect">
            <a:avLst/>
          </a:prstGeom>
        </p:spPr>
      </p:pic>
      <p:pic>
        <p:nvPicPr>
          <p:cNvPr id="35" name="Рисунок 34">
            <a:extLst>
              <a:ext uri="{FF2B5EF4-FFF2-40B4-BE49-F238E27FC236}">
                <a16:creationId xmlns:a16="http://schemas.microsoft.com/office/drawing/2014/main" id="{B79F9974-09BD-F5F8-3DD7-76B89DDCA3A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04226" y="583256"/>
            <a:ext cx="2559714" cy="1988494"/>
          </a:xfrm>
          <a:prstGeom prst="rect">
            <a:avLst/>
          </a:prstGeom>
        </p:spPr>
      </p:pic>
      <p:pic>
        <p:nvPicPr>
          <p:cNvPr id="37" name="Рисунок 36">
            <a:extLst>
              <a:ext uri="{FF2B5EF4-FFF2-40B4-BE49-F238E27FC236}">
                <a16:creationId xmlns:a16="http://schemas.microsoft.com/office/drawing/2014/main" id="{D59F3A5B-B9A9-FCB3-46EA-3F638525C97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0060" y="2667716"/>
            <a:ext cx="2613277" cy="2099556"/>
          </a:xfrm>
          <a:prstGeom prst="rect">
            <a:avLst/>
          </a:prstGeom>
        </p:spPr>
      </p:pic>
      <p:pic>
        <p:nvPicPr>
          <p:cNvPr id="39" name="Рисунок 38">
            <a:extLst>
              <a:ext uri="{FF2B5EF4-FFF2-40B4-BE49-F238E27FC236}">
                <a16:creationId xmlns:a16="http://schemas.microsoft.com/office/drawing/2014/main" id="{173BA98C-3EB5-8B91-0CC5-49FAD67A85D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20031" y="2826321"/>
            <a:ext cx="2733069" cy="1940951"/>
          </a:xfrm>
          <a:prstGeom prst="rect">
            <a:avLst/>
          </a:prstGeom>
        </p:spPr>
      </p:pic>
      <p:pic>
        <p:nvPicPr>
          <p:cNvPr id="41" name="Рисунок 40">
            <a:extLst>
              <a:ext uri="{FF2B5EF4-FFF2-40B4-BE49-F238E27FC236}">
                <a16:creationId xmlns:a16="http://schemas.microsoft.com/office/drawing/2014/main" id="{246E8237-919B-818C-C450-D0D32940223F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17176" y="2770349"/>
            <a:ext cx="3041739" cy="20995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71984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A0701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kern="0" spc="400" dirty="0">
                <a:solidFill>
                  <a:srgbClr val="4CAF50"/>
                </a:solidFill>
              </a:rPr>
              <a:t>AFZALLIKLARI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4572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</a:rPr>
              <a:t>Tizimning Kuchli Tomonlari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743200" cy="1600200"/>
          </a:xfrm>
          <a:prstGeom prst="rect">
            <a:avLst/>
          </a:prstGeom>
          <a:solidFill>
            <a:srgbClr val="141E2E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54864" cy="1600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8" name="Text 6"/>
          <p:cNvSpPr/>
          <p:nvPr/>
        </p:nvSpPr>
        <p:spPr>
          <a:xfrm>
            <a:off x="274320" y="1188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⚡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194560" y="11887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4CAF50"/>
                </a:solidFill>
              </a:rPr>
              <a:t>&lt; 50ms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84048" y="162763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Tezkor Real-Time Tahlil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84048" y="1947672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Millisekundlarda qaror qabul qilish — inson tezligidan 1000x tez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27832" y="1097280"/>
            <a:ext cx="2743200" cy="1600200"/>
          </a:xfrm>
          <a:prstGeom prst="rect">
            <a:avLst/>
          </a:prstGeom>
          <a:solidFill>
            <a:srgbClr val="141E2E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27832" y="1097280"/>
            <a:ext cx="54864" cy="1600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4" name="Text 12"/>
          <p:cNvSpPr/>
          <p:nvPr/>
        </p:nvSpPr>
        <p:spPr>
          <a:xfrm>
            <a:off x="3227832" y="1188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🧠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5148072" y="11887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4CAF50"/>
                </a:solidFill>
              </a:rPr>
              <a:t>3 AI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3337560" y="162763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Ko'p modellik yondashuv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337560" y="1947672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CNN+LSTM + RL + NLP — uch xil AI tizim birgalikda ishlaydi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81344" y="1097280"/>
            <a:ext cx="2743200" cy="1600200"/>
          </a:xfrm>
          <a:prstGeom prst="rect">
            <a:avLst/>
          </a:prstGeom>
          <a:solidFill>
            <a:srgbClr val="141E2E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181344" y="1097280"/>
            <a:ext cx="54864" cy="1600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0" name="Text 18"/>
          <p:cNvSpPr/>
          <p:nvPr/>
        </p:nvSpPr>
        <p:spPr>
          <a:xfrm>
            <a:off x="6181344" y="11887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📈</a:t>
            </a:r>
            <a:endParaRPr lang="en-US" sz="3600" dirty="0"/>
          </a:p>
        </p:txBody>
      </p:sp>
      <p:sp>
        <p:nvSpPr>
          <p:cNvPr id="21" name="Text 19"/>
          <p:cNvSpPr/>
          <p:nvPr/>
        </p:nvSpPr>
        <p:spPr>
          <a:xfrm>
            <a:off x="8101584" y="118872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4CAF50"/>
                </a:solidFill>
              </a:rPr>
              <a:t>87.3%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291072" y="162763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Yuqori Aniqlik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291072" y="1947672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87%+ precision — an'anaviy modellardan sezilarli ustunlik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2834640"/>
            <a:ext cx="2743200" cy="1600200"/>
          </a:xfrm>
          <a:prstGeom prst="rect">
            <a:avLst/>
          </a:prstGeom>
          <a:solidFill>
            <a:srgbClr val="141E2E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274320" y="2834640"/>
            <a:ext cx="54864" cy="1600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6" name="Text 24"/>
          <p:cNvSpPr/>
          <p:nvPr/>
        </p:nvSpPr>
        <p:spPr>
          <a:xfrm>
            <a:off x="274320" y="29260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🔄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2194560" y="29260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4CAF50"/>
                </a:solidFill>
              </a:rPr>
              <a:t>24/5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384048" y="336499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Avtomatlashtirish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384048" y="3685032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24/5 to'xtovsiz monitoring va savdo — charchamaydi, xato qilmaydi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27832" y="2834640"/>
            <a:ext cx="2743200" cy="1600200"/>
          </a:xfrm>
          <a:prstGeom prst="rect">
            <a:avLst/>
          </a:prstGeom>
          <a:solidFill>
            <a:srgbClr val="141E2E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3227832" y="2834640"/>
            <a:ext cx="54864" cy="1600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2" name="Text 30"/>
          <p:cNvSpPr/>
          <p:nvPr/>
        </p:nvSpPr>
        <p:spPr>
          <a:xfrm>
            <a:off x="3227832" y="29260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📊</a:t>
            </a:r>
            <a:endParaRPr lang="en-US" sz="3600" dirty="0"/>
          </a:p>
        </p:txBody>
      </p:sp>
      <p:sp>
        <p:nvSpPr>
          <p:cNvPr id="33" name="Text 31"/>
          <p:cNvSpPr/>
          <p:nvPr/>
        </p:nvSpPr>
        <p:spPr>
          <a:xfrm>
            <a:off x="5148072" y="29260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4CAF50"/>
                </a:solidFill>
              </a:rPr>
              <a:t>Multi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337560" y="336499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Keng Ma'lumot Tahlili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3337560" y="3685032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Narx, hajm, sentiment va makro ko'rsatkichlarni birgalikda tahlil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6181344" y="2834640"/>
            <a:ext cx="2743200" cy="1600200"/>
          </a:xfrm>
          <a:prstGeom prst="rect">
            <a:avLst/>
          </a:prstGeom>
          <a:solidFill>
            <a:srgbClr val="141E2E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181344" y="2834640"/>
            <a:ext cx="54864" cy="160020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38" name="Text 36"/>
          <p:cNvSpPr/>
          <p:nvPr/>
        </p:nvSpPr>
        <p:spPr>
          <a:xfrm>
            <a:off x="6181344" y="29260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0000"/>
                </a:solidFill>
              </a:rPr>
              <a:t>🎯</a:t>
            </a:r>
            <a:endParaRPr lang="en-US" sz="3600" dirty="0"/>
          </a:p>
        </p:txBody>
      </p:sp>
      <p:sp>
        <p:nvSpPr>
          <p:cNvPr id="39" name="Text 37"/>
          <p:cNvSpPr/>
          <p:nvPr/>
        </p:nvSpPr>
        <p:spPr>
          <a:xfrm>
            <a:off x="8101584" y="292608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4CAF50"/>
                </a:solidFill>
              </a:rPr>
              <a:t>Smart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6291072" y="3364992"/>
            <a:ext cx="2514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</a:rPr>
              <a:t>Risk Management</a:t>
            </a:r>
            <a:endParaRPr lang="en-US" sz="1600" dirty="0"/>
          </a:p>
        </p:txBody>
      </p:sp>
      <p:sp>
        <p:nvSpPr>
          <p:cNvPr id="41" name="Text 39"/>
          <p:cNvSpPr/>
          <p:nvPr/>
        </p:nvSpPr>
        <p:spPr>
          <a:xfrm>
            <a:off x="6291072" y="3685032"/>
            <a:ext cx="25146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EC5"/>
                </a:solidFill>
              </a:rPr>
              <a:t>Avtomatik Stop-loss va position sizing bilan kapital himoyasi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A07010"/>
          </a:solidFill>
          <a:ln/>
        </p:spPr>
      </p:sp>
      <p:sp>
        <p:nvSpPr>
          <p:cNvPr id="4" name="Text 2"/>
          <p:cNvSpPr/>
          <p:nvPr/>
        </p:nvSpPr>
        <p:spPr>
          <a:xfrm>
            <a:off x="365760" y="137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kern="0" spc="400" dirty="0">
                <a:solidFill>
                  <a:srgbClr val="D4A017"/>
                </a:solidFill>
              </a:rPr>
              <a:t>XULOSA</a:t>
            </a: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329184" y="443484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</a:rPr>
              <a:t>AI Trading — Kelajak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8595360" cy="1005840"/>
          </a:xfrm>
          <a:prstGeom prst="rect">
            <a:avLst/>
          </a:prstGeom>
          <a:solidFill>
            <a:srgbClr val="0B2447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097280"/>
            <a:ext cx="54864" cy="100584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1704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C842"/>
                </a:solidFill>
              </a:rPr>
              <a:t>🏆  Asosiy natija: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7200" y="1444752"/>
            <a:ext cx="8321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EC5"/>
                </a:solidFill>
              </a:rPr>
              <a:t>CNN+LSTM + PPO + Transformer yondashuvi oltin bozorini 87.3% aniqlik bilan bashorat qildi va yillik 38.4% daromad ko'rsatdi.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22402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C842"/>
                </a:solidFill>
              </a:rPr>
              <a:t>Rivojlantirish Yo'llari: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274320" y="2606040"/>
            <a:ext cx="2011680" cy="1554480"/>
          </a:xfrm>
          <a:prstGeom prst="rect">
            <a:avLst/>
          </a:prstGeom>
          <a:solidFill>
            <a:srgbClr val="141E2E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2606040"/>
            <a:ext cx="54864" cy="155448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3" name="Text 11"/>
          <p:cNvSpPr/>
          <p:nvPr/>
        </p:nvSpPr>
        <p:spPr>
          <a:xfrm>
            <a:off x="274320" y="267004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🌐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365760" y="3154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4A017"/>
                </a:solidFill>
              </a:rPr>
              <a:t>Ko'proq metallar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47472" y="345643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</a:rPr>
              <a:t>Kumush (XAGUSD), Platina, Mis qo'shish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68880" y="2606040"/>
            <a:ext cx="2011680" cy="1554480"/>
          </a:xfrm>
          <a:prstGeom prst="rect">
            <a:avLst/>
          </a:prstGeom>
          <a:solidFill>
            <a:srgbClr val="141E2E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468880" y="2606040"/>
            <a:ext cx="54864" cy="1554480"/>
          </a:xfrm>
          <a:prstGeom prst="rect">
            <a:avLst/>
          </a:prstGeom>
          <a:solidFill>
            <a:srgbClr val="2196F3"/>
          </a:solidFill>
          <a:ln/>
        </p:spPr>
      </p:sp>
      <p:sp>
        <p:nvSpPr>
          <p:cNvPr id="18" name="Text 16"/>
          <p:cNvSpPr/>
          <p:nvPr/>
        </p:nvSpPr>
        <p:spPr>
          <a:xfrm>
            <a:off x="2468880" y="267004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🧬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2560320" y="3154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196F3"/>
                </a:solidFill>
              </a:rPr>
              <a:t>Model yaxshilash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542032" y="345643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</a:rPr>
              <a:t>Transformer + Attention mexanizmi to'liq qo'llash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2606040"/>
            <a:ext cx="2011680" cy="1554480"/>
          </a:xfrm>
          <a:prstGeom prst="rect">
            <a:avLst/>
          </a:prstGeom>
          <a:solidFill>
            <a:srgbClr val="141E2E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663440" y="2606040"/>
            <a:ext cx="54864" cy="155448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3" name="Text 21"/>
          <p:cNvSpPr/>
          <p:nvPr/>
        </p:nvSpPr>
        <p:spPr>
          <a:xfrm>
            <a:off x="4663440" y="267004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☁️</a:t>
            </a:r>
            <a:endParaRPr lang="en-US" sz="2800" dirty="0"/>
          </a:p>
        </p:txBody>
      </p:sp>
      <p:sp>
        <p:nvSpPr>
          <p:cNvPr id="24" name="Text 22"/>
          <p:cNvSpPr/>
          <p:nvPr/>
        </p:nvSpPr>
        <p:spPr>
          <a:xfrm>
            <a:off x="4754880" y="3154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0B4D8"/>
                </a:solidFill>
              </a:rPr>
              <a:t>Cloud deployment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36592" y="345643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</a:rPr>
              <a:t>AWS/GCP da real production serveri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858000" y="2606040"/>
            <a:ext cx="2011680" cy="1554480"/>
          </a:xfrm>
          <a:prstGeom prst="rect">
            <a:avLst/>
          </a:prstGeom>
          <a:solidFill>
            <a:srgbClr val="141E2E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858000" y="2606040"/>
            <a:ext cx="54864" cy="155448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8" name="Text 26"/>
          <p:cNvSpPr/>
          <p:nvPr/>
        </p:nvSpPr>
        <p:spPr>
          <a:xfrm>
            <a:off x="6858000" y="267004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000000"/>
                </a:solidFill>
              </a:rPr>
              <a:t>📡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6949440" y="31546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4CAF50"/>
                </a:solidFill>
              </a:rPr>
              <a:t>Alternative data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931152" y="3456432"/>
            <a:ext cx="1874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0BEC5"/>
                </a:solidFill>
              </a:rPr>
              <a:t>Satellite, on-chain, options flow ma'lumotlari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274320" y="4251960"/>
            <a:ext cx="8595360" cy="685800"/>
          </a:xfrm>
          <a:prstGeom prst="rect">
            <a:avLst/>
          </a:prstGeom>
          <a:solidFill>
            <a:srgbClr val="0F1B2D"/>
          </a:solidFill>
          <a:ln w="12700">
            <a:solidFill>
              <a:srgbClr val="1565C0"/>
            </a:solidFill>
            <a:prstDash val="solid"/>
          </a:ln>
          <a:effectLst>
            <a:outerShdw blurRad="101600" dist="38100" dir="8100000" algn="bl" rotWithShape="0">
              <a:srgbClr val="000000">
                <a:alpha val="3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274320" y="4251960"/>
            <a:ext cx="54864" cy="6858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3" name="Text 31"/>
          <p:cNvSpPr/>
          <p:nvPr/>
        </p:nvSpPr>
        <p:spPr>
          <a:xfrm>
            <a:off x="502920" y="435406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D4A017"/>
                </a:solidFill>
              </a:rPr>
              <a:t>"Sun'iy intellekt moliya bozorini demokratlashtiradi — katta investorlar va kichik treyderlar uchun teng imkoniyat."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4" name="Shape 2"/>
          <p:cNvSpPr/>
          <p:nvPr/>
        </p:nvSpPr>
        <p:spPr>
          <a:xfrm>
            <a:off x="3200400" y="457200"/>
            <a:ext cx="2743200" cy="2743200"/>
          </a:xfrm>
          <a:prstGeom prst="ellipse">
            <a:avLst/>
          </a:prstGeom>
          <a:solidFill>
            <a:srgbClr val="0B2447">
              <a:alpha val="40000"/>
            </a:srgbClr>
          </a:solidFill>
          <a:ln w="12700">
            <a:solidFill>
              <a:srgbClr val="D4A01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0" y="731520"/>
            <a:ext cx="1828800" cy="1828800"/>
          </a:xfrm>
          <a:prstGeom prst="ellipse">
            <a:avLst/>
          </a:prstGeom>
          <a:solidFill>
            <a:srgbClr val="0F1B2D">
              <a:alpha val="60000"/>
            </a:srgbClr>
          </a:solidFill>
          <a:ln w="12700">
            <a:solidFill>
              <a:srgbClr val="2196F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583180" y="1561338"/>
            <a:ext cx="39776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D4A017"/>
                </a:solidFill>
              </a:rPr>
              <a:t>E’TIBORINGIZ UCHUN RAHMAT!</a:t>
            </a:r>
            <a:endParaRPr lang="en-US" sz="4800" dirty="0"/>
          </a:p>
        </p:txBody>
      </p:sp>
      <p:sp>
        <p:nvSpPr>
          <p:cNvPr id="11" name="Shape 9"/>
          <p:cNvSpPr/>
          <p:nvPr/>
        </p:nvSpPr>
        <p:spPr>
          <a:xfrm>
            <a:off x="3200400" y="4009644"/>
            <a:ext cx="2743200" cy="2743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12" name="Text 10"/>
          <p:cNvSpPr/>
          <p:nvPr/>
        </p:nvSpPr>
        <p:spPr>
          <a:xfrm>
            <a:off x="457200" y="412165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196F3"/>
                </a:solidFill>
              </a:rPr>
              <a:t>📊  Data Science / AI  </a:t>
            </a:r>
            <a:r>
              <a:rPr lang="en-US" sz="1600" dirty="0">
                <a:solidFill>
                  <a:srgbClr val="607D8B"/>
                </a:solidFill>
              </a:rPr>
              <a:t>|  </a:t>
            </a:r>
            <a:r>
              <a:rPr lang="en-US" sz="1600" dirty="0">
                <a:solidFill>
                  <a:srgbClr val="D4A017"/>
                </a:solidFill>
              </a:rPr>
              <a:t>🥇  Gold Market Analysis  </a:t>
            </a:r>
            <a:r>
              <a:rPr lang="en-US" sz="1600" dirty="0">
                <a:solidFill>
                  <a:srgbClr val="607D8B"/>
                </a:solidFill>
              </a:rPr>
              <a:t>|  </a:t>
            </a:r>
            <a:r>
              <a:rPr lang="en-US" sz="1600" dirty="0">
                <a:solidFill>
                  <a:srgbClr val="00B4D8"/>
                </a:solidFill>
              </a:rPr>
              <a:t>🤖  AI Trading System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0" y="4750308"/>
            <a:ext cx="9144000" cy="320040"/>
          </a:xfrm>
          <a:prstGeom prst="rect">
            <a:avLst/>
          </a:prstGeom>
          <a:solidFill>
            <a:srgbClr val="0B2447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1268</Words>
  <Application>Microsoft Office PowerPoint</Application>
  <PresentationFormat>Экран (16:9)</PresentationFormat>
  <Paragraphs>350</Paragraphs>
  <Slides>19</Slides>
  <Notes>19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Sun'iy intellekt asosida oltin bozorini bashoratlash</dc:title>
  <dc:subject>PptxGenJS Presentation</dc:subject>
  <dc:creator>PptxGenJS</dc:creator>
  <cp:lastModifiedBy>Shavkat Bek</cp:lastModifiedBy>
  <cp:revision>17</cp:revision>
  <dcterms:created xsi:type="dcterms:W3CDTF">2026-04-06T13:14:17Z</dcterms:created>
  <dcterms:modified xsi:type="dcterms:W3CDTF">2026-04-06T14:02:24Z</dcterms:modified>
</cp:coreProperties>
</file>